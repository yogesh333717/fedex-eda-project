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Inter Bold" panose="020B0604020202020204" charset="0"/>
      <p:regular r:id="rId21"/>
    </p:embeddedFont>
    <p:embeddedFont>
      <p:font typeface="Lato" panose="020F0502020204030203" pitchFamily="34" charset="0"/>
      <p:regular r:id="rId22"/>
    </p:embeddedFont>
    <p:embeddedFont>
      <p:font typeface="Lato Bold" panose="020F0502020204030203"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5AA99E-907A-436A-96FA-B516BF55F64F}" v="1" dt="2025-04-15T11:26:18.1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10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ET TALIKOTI" userId="4dd9bec4b35b9990" providerId="LiveId" clId="{035AA99E-907A-436A-96FA-B516BF55F64F}"/>
    <pc:docChg chg="undo custSel modSld">
      <pc:chgData name="NIKET TALIKOTI" userId="4dd9bec4b35b9990" providerId="LiveId" clId="{035AA99E-907A-436A-96FA-B516BF55F64F}" dt="2025-04-15T11:34:42.835" v="118" actId="1076"/>
      <pc:docMkLst>
        <pc:docMk/>
      </pc:docMkLst>
      <pc:sldChg chg="modSp mod">
        <pc:chgData name="NIKET TALIKOTI" userId="4dd9bec4b35b9990" providerId="LiveId" clId="{035AA99E-907A-436A-96FA-B516BF55F64F}" dt="2025-04-15T11:32:57.357" v="104" actId="14100"/>
        <pc:sldMkLst>
          <pc:docMk/>
          <pc:sldMk cId="0" sldId="256"/>
        </pc:sldMkLst>
        <pc:spChg chg="mod">
          <ac:chgData name="NIKET TALIKOTI" userId="4dd9bec4b35b9990" providerId="LiveId" clId="{035AA99E-907A-436A-96FA-B516BF55F64F}" dt="2025-04-15T11:32:57.357" v="104" actId="14100"/>
          <ac:spMkLst>
            <pc:docMk/>
            <pc:sldMk cId="0" sldId="256"/>
            <ac:spMk id="7" creationId="{00000000-0000-0000-0000-000000000000}"/>
          </ac:spMkLst>
        </pc:spChg>
        <pc:spChg chg="mod">
          <ac:chgData name="NIKET TALIKOTI" userId="4dd9bec4b35b9990" providerId="LiveId" clId="{035AA99E-907A-436A-96FA-B516BF55F64F}" dt="2025-04-15T11:32:48.852" v="103" actId="20577"/>
          <ac:spMkLst>
            <pc:docMk/>
            <pc:sldMk cId="0" sldId="256"/>
            <ac:spMk id="8" creationId="{00000000-0000-0000-0000-000000000000}"/>
          </ac:spMkLst>
        </pc:spChg>
      </pc:sldChg>
      <pc:sldChg chg="modSp mod">
        <pc:chgData name="NIKET TALIKOTI" userId="4dd9bec4b35b9990" providerId="LiveId" clId="{035AA99E-907A-436A-96FA-B516BF55F64F}" dt="2025-04-15T11:34:42.835" v="118" actId="1076"/>
        <pc:sldMkLst>
          <pc:docMk/>
          <pc:sldMk cId="0" sldId="257"/>
        </pc:sldMkLst>
        <pc:spChg chg="mod">
          <ac:chgData name="NIKET TALIKOTI" userId="4dd9bec4b35b9990" providerId="LiveId" clId="{035AA99E-907A-436A-96FA-B516BF55F64F}" dt="2025-04-15T11:34:35.650" v="117" actId="1076"/>
          <ac:spMkLst>
            <pc:docMk/>
            <pc:sldMk cId="0" sldId="257"/>
            <ac:spMk id="5" creationId="{00000000-0000-0000-0000-000000000000}"/>
          </ac:spMkLst>
        </pc:spChg>
        <pc:spChg chg="mod">
          <ac:chgData name="NIKET TALIKOTI" userId="4dd9bec4b35b9990" providerId="LiveId" clId="{035AA99E-907A-436A-96FA-B516BF55F64F}" dt="2025-04-15T11:34:42.835" v="118" actId="1076"/>
          <ac:spMkLst>
            <pc:docMk/>
            <pc:sldMk cId="0" sldId="257"/>
            <ac:spMk id="6" creationId="{00000000-0000-0000-0000-000000000000}"/>
          </ac:spMkLst>
        </pc:spChg>
      </pc:sldChg>
      <pc:sldChg chg="modSp mod">
        <pc:chgData name="NIKET TALIKOTI" userId="4dd9bec4b35b9990" providerId="LiveId" clId="{035AA99E-907A-436A-96FA-B516BF55F64F}" dt="2025-04-15T11:24:09.900" v="25" actId="1076"/>
        <pc:sldMkLst>
          <pc:docMk/>
          <pc:sldMk cId="0" sldId="258"/>
        </pc:sldMkLst>
        <pc:spChg chg="mod">
          <ac:chgData name="NIKET TALIKOTI" userId="4dd9bec4b35b9990" providerId="LiveId" clId="{035AA99E-907A-436A-96FA-B516BF55F64F}" dt="2025-04-15T11:24:09.900" v="25" actId="1076"/>
          <ac:spMkLst>
            <pc:docMk/>
            <pc:sldMk cId="0" sldId="258"/>
            <ac:spMk id="5" creationId="{00000000-0000-0000-0000-000000000000}"/>
          </ac:spMkLst>
        </pc:spChg>
        <pc:spChg chg="mod">
          <ac:chgData name="NIKET TALIKOTI" userId="4dd9bec4b35b9990" providerId="LiveId" clId="{035AA99E-907A-436A-96FA-B516BF55F64F}" dt="2025-04-15T11:24:01.244" v="24" actId="1076"/>
          <ac:spMkLst>
            <pc:docMk/>
            <pc:sldMk cId="0" sldId="258"/>
            <ac:spMk id="6" creationId="{00000000-0000-0000-0000-000000000000}"/>
          </ac:spMkLst>
        </pc:spChg>
      </pc:sldChg>
      <pc:sldChg chg="modSp mod">
        <pc:chgData name="NIKET TALIKOTI" userId="4dd9bec4b35b9990" providerId="LiveId" clId="{035AA99E-907A-436A-96FA-B516BF55F64F}" dt="2025-04-15T11:25:37.932" v="38" actId="14100"/>
        <pc:sldMkLst>
          <pc:docMk/>
          <pc:sldMk cId="0" sldId="259"/>
        </pc:sldMkLst>
        <pc:spChg chg="mod">
          <ac:chgData name="NIKET TALIKOTI" userId="4dd9bec4b35b9990" providerId="LiveId" clId="{035AA99E-907A-436A-96FA-B516BF55F64F}" dt="2025-04-15T11:24:22.620" v="26" actId="1076"/>
          <ac:spMkLst>
            <pc:docMk/>
            <pc:sldMk cId="0" sldId="259"/>
            <ac:spMk id="5" creationId="{00000000-0000-0000-0000-000000000000}"/>
          </ac:spMkLst>
        </pc:spChg>
        <pc:spChg chg="mod">
          <ac:chgData name="NIKET TALIKOTI" userId="4dd9bec4b35b9990" providerId="LiveId" clId="{035AA99E-907A-436A-96FA-B516BF55F64F}" dt="2025-04-15T11:25:37.932" v="38" actId="14100"/>
          <ac:spMkLst>
            <pc:docMk/>
            <pc:sldMk cId="0" sldId="259"/>
            <ac:spMk id="6" creationId="{00000000-0000-0000-0000-000000000000}"/>
          </ac:spMkLst>
        </pc:spChg>
      </pc:sldChg>
      <pc:sldChg chg="addSp delSp modSp mod">
        <pc:chgData name="NIKET TALIKOTI" userId="4dd9bec4b35b9990" providerId="LiveId" clId="{035AA99E-907A-436A-96FA-B516BF55F64F}" dt="2025-04-15T11:29:07.076" v="72" actId="207"/>
        <pc:sldMkLst>
          <pc:docMk/>
          <pc:sldMk cId="0" sldId="260"/>
        </pc:sldMkLst>
        <pc:spChg chg="add mod">
          <ac:chgData name="NIKET TALIKOTI" userId="4dd9bec4b35b9990" providerId="LiveId" clId="{035AA99E-907A-436A-96FA-B516BF55F64F}" dt="2025-04-15T11:27:13.585" v="50" actId="14100"/>
          <ac:spMkLst>
            <pc:docMk/>
            <pc:sldMk cId="0" sldId="260"/>
            <ac:spMk id="6" creationId="{208D6A5B-0E67-7DEF-FBE1-D450016ED8B0}"/>
          </ac:spMkLst>
        </pc:spChg>
        <pc:spChg chg="mod">
          <ac:chgData name="NIKET TALIKOTI" userId="4dd9bec4b35b9990" providerId="LiveId" clId="{035AA99E-907A-436A-96FA-B516BF55F64F}" dt="2025-04-15T11:28:49.012" v="70" actId="1076"/>
          <ac:spMkLst>
            <pc:docMk/>
            <pc:sldMk cId="0" sldId="260"/>
            <ac:spMk id="7" creationId="{00000000-0000-0000-0000-000000000000}"/>
          </ac:spMkLst>
        </pc:spChg>
        <pc:spChg chg="mod">
          <ac:chgData name="NIKET TALIKOTI" userId="4dd9bec4b35b9990" providerId="LiveId" clId="{035AA99E-907A-436A-96FA-B516BF55F64F}" dt="2025-04-15T11:29:07.076" v="72" actId="207"/>
          <ac:spMkLst>
            <pc:docMk/>
            <pc:sldMk cId="0" sldId="260"/>
            <ac:spMk id="8" creationId="{00000000-0000-0000-0000-000000000000}"/>
          </ac:spMkLst>
        </pc:spChg>
        <pc:grpChg chg="del">
          <ac:chgData name="NIKET TALIKOTI" userId="4dd9bec4b35b9990" providerId="LiveId" clId="{035AA99E-907A-436A-96FA-B516BF55F64F}" dt="2025-04-15T11:28:37.408" v="68" actId="21"/>
          <ac:grpSpMkLst>
            <pc:docMk/>
            <pc:sldMk cId="0" sldId="260"/>
            <ac:grpSpMk id="4" creationId="{00000000-0000-0000-0000-000000000000}"/>
          </ac:grpSpMkLst>
        </pc:grpChg>
      </pc:sldChg>
      <pc:sldChg chg="modSp mod">
        <pc:chgData name="NIKET TALIKOTI" userId="4dd9bec4b35b9990" providerId="LiveId" clId="{035AA99E-907A-436A-96FA-B516BF55F64F}" dt="2025-04-15T11:29:29.428" v="73" actId="1076"/>
        <pc:sldMkLst>
          <pc:docMk/>
          <pc:sldMk cId="0" sldId="262"/>
        </pc:sldMkLst>
        <pc:spChg chg="mod">
          <ac:chgData name="NIKET TALIKOTI" userId="4dd9bec4b35b9990" providerId="LiveId" clId="{035AA99E-907A-436A-96FA-B516BF55F64F}" dt="2025-04-15T11:29:29.428" v="73" actId="1076"/>
          <ac:spMkLst>
            <pc:docMk/>
            <pc:sldMk cId="0" sldId="262"/>
            <ac:spMk id="7" creationId="{00000000-0000-0000-0000-000000000000}"/>
          </ac:spMkLst>
        </pc:spChg>
      </pc:sldChg>
      <pc:sldChg chg="modSp mod">
        <pc:chgData name="NIKET TALIKOTI" userId="4dd9bec4b35b9990" providerId="LiveId" clId="{035AA99E-907A-436A-96FA-B516BF55F64F}" dt="2025-04-15T11:29:37.988" v="74" actId="1076"/>
        <pc:sldMkLst>
          <pc:docMk/>
          <pc:sldMk cId="0" sldId="263"/>
        </pc:sldMkLst>
        <pc:spChg chg="mod">
          <ac:chgData name="NIKET TALIKOTI" userId="4dd9bec4b35b9990" providerId="LiveId" clId="{035AA99E-907A-436A-96FA-B516BF55F64F}" dt="2025-04-15T11:29:37.988" v="74" actId="1076"/>
          <ac:spMkLst>
            <pc:docMk/>
            <pc:sldMk cId="0" sldId="263"/>
            <ac:spMk id="7" creationId="{00000000-0000-0000-0000-000000000000}"/>
          </ac:spMkLst>
        </pc:spChg>
      </pc:sldChg>
      <pc:sldChg chg="modSp mod">
        <pc:chgData name="NIKET TALIKOTI" userId="4dd9bec4b35b9990" providerId="LiveId" clId="{035AA99E-907A-436A-96FA-B516BF55F64F}" dt="2025-04-15T11:29:47.670" v="75" actId="14100"/>
        <pc:sldMkLst>
          <pc:docMk/>
          <pc:sldMk cId="0" sldId="264"/>
        </pc:sldMkLst>
        <pc:spChg chg="mod">
          <ac:chgData name="NIKET TALIKOTI" userId="4dd9bec4b35b9990" providerId="LiveId" clId="{035AA99E-907A-436A-96FA-B516BF55F64F}" dt="2025-04-15T11:29:47.670" v="75" actId="14100"/>
          <ac:spMkLst>
            <pc:docMk/>
            <pc:sldMk cId="0" sldId="264"/>
            <ac:spMk id="7" creationId="{00000000-0000-0000-0000-000000000000}"/>
          </ac:spMkLst>
        </pc:spChg>
      </pc:sldChg>
      <pc:sldChg chg="modSp mod">
        <pc:chgData name="NIKET TALIKOTI" userId="4dd9bec4b35b9990" providerId="LiveId" clId="{035AA99E-907A-436A-96FA-B516BF55F64F}" dt="2025-04-15T11:29:54.543" v="76" actId="14100"/>
        <pc:sldMkLst>
          <pc:docMk/>
          <pc:sldMk cId="0" sldId="265"/>
        </pc:sldMkLst>
        <pc:spChg chg="mod">
          <ac:chgData name="NIKET TALIKOTI" userId="4dd9bec4b35b9990" providerId="LiveId" clId="{035AA99E-907A-436A-96FA-B516BF55F64F}" dt="2025-04-15T11:29:54.543" v="76" actId="14100"/>
          <ac:spMkLst>
            <pc:docMk/>
            <pc:sldMk cId="0" sldId="265"/>
            <ac:spMk id="7" creationId="{00000000-0000-0000-0000-000000000000}"/>
          </ac:spMkLst>
        </pc:spChg>
      </pc:sldChg>
      <pc:sldChg chg="modSp mod">
        <pc:chgData name="NIKET TALIKOTI" userId="4dd9bec4b35b9990" providerId="LiveId" clId="{035AA99E-907A-436A-96FA-B516BF55F64F}" dt="2025-04-15T11:30:01.493" v="77" actId="1076"/>
        <pc:sldMkLst>
          <pc:docMk/>
          <pc:sldMk cId="0" sldId="266"/>
        </pc:sldMkLst>
        <pc:spChg chg="mod">
          <ac:chgData name="NIKET TALIKOTI" userId="4dd9bec4b35b9990" providerId="LiveId" clId="{035AA99E-907A-436A-96FA-B516BF55F64F}" dt="2025-04-15T11:30:01.493" v="77" actId="1076"/>
          <ac:spMkLst>
            <pc:docMk/>
            <pc:sldMk cId="0" sldId="266"/>
            <ac:spMk id="7" creationId="{00000000-0000-0000-0000-000000000000}"/>
          </ac:spMkLst>
        </pc:spChg>
      </pc:sldChg>
      <pc:sldChg chg="modSp mod">
        <pc:chgData name="NIKET TALIKOTI" userId="4dd9bec4b35b9990" providerId="LiveId" clId="{035AA99E-907A-436A-96FA-B516BF55F64F}" dt="2025-04-15T11:30:08.863" v="78" actId="14100"/>
        <pc:sldMkLst>
          <pc:docMk/>
          <pc:sldMk cId="0" sldId="267"/>
        </pc:sldMkLst>
        <pc:spChg chg="mod">
          <ac:chgData name="NIKET TALIKOTI" userId="4dd9bec4b35b9990" providerId="LiveId" clId="{035AA99E-907A-436A-96FA-B516BF55F64F}" dt="2025-04-15T11:30:08.863" v="78" actId="14100"/>
          <ac:spMkLst>
            <pc:docMk/>
            <pc:sldMk cId="0" sldId="267"/>
            <ac:spMk id="7" creationId="{00000000-0000-0000-0000-000000000000}"/>
          </ac:spMkLst>
        </pc:spChg>
      </pc:sldChg>
      <pc:sldChg chg="modSp mod">
        <pc:chgData name="NIKET TALIKOTI" userId="4dd9bec4b35b9990" providerId="LiveId" clId="{035AA99E-907A-436A-96FA-B516BF55F64F}" dt="2025-04-15T11:30:16.774" v="79" actId="14100"/>
        <pc:sldMkLst>
          <pc:docMk/>
          <pc:sldMk cId="0" sldId="268"/>
        </pc:sldMkLst>
        <pc:spChg chg="mod">
          <ac:chgData name="NIKET TALIKOTI" userId="4dd9bec4b35b9990" providerId="LiveId" clId="{035AA99E-907A-436A-96FA-B516BF55F64F}" dt="2025-04-15T11:30:16.774" v="79" actId="14100"/>
          <ac:spMkLst>
            <pc:docMk/>
            <pc:sldMk cId="0" sldId="268"/>
            <ac:spMk id="7" creationId="{00000000-0000-0000-0000-000000000000}"/>
          </ac:spMkLst>
        </pc:spChg>
      </pc:sldChg>
      <pc:sldChg chg="modSp mod">
        <pc:chgData name="NIKET TALIKOTI" userId="4dd9bec4b35b9990" providerId="LiveId" clId="{035AA99E-907A-436A-96FA-B516BF55F64F}" dt="2025-04-15T11:30:27.407" v="80" actId="14100"/>
        <pc:sldMkLst>
          <pc:docMk/>
          <pc:sldMk cId="0" sldId="269"/>
        </pc:sldMkLst>
        <pc:spChg chg="mod">
          <ac:chgData name="NIKET TALIKOTI" userId="4dd9bec4b35b9990" providerId="LiveId" clId="{035AA99E-907A-436A-96FA-B516BF55F64F}" dt="2025-04-15T11:30:27.407" v="80" actId="14100"/>
          <ac:spMkLst>
            <pc:docMk/>
            <pc:sldMk cId="0" sldId="269"/>
            <ac:spMk id="7" creationId="{00000000-0000-0000-0000-000000000000}"/>
          </ac:spMkLst>
        </pc:spChg>
      </pc:sldChg>
      <pc:sldChg chg="modSp mod">
        <pc:chgData name="NIKET TALIKOTI" userId="4dd9bec4b35b9990" providerId="LiveId" clId="{035AA99E-907A-436A-96FA-B516BF55F64F}" dt="2025-04-15T11:30:40.159" v="82" actId="14100"/>
        <pc:sldMkLst>
          <pc:docMk/>
          <pc:sldMk cId="0" sldId="271"/>
        </pc:sldMkLst>
        <pc:spChg chg="mod">
          <ac:chgData name="NIKET TALIKOTI" userId="4dd9bec4b35b9990" providerId="LiveId" clId="{035AA99E-907A-436A-96FA-B516BF55F64F}" dt="2025-04-15T11:30:40.159" v="82" actId="14100"/>
          <ac:spMkLst>
            <pc:docMk/>
            <pc:sldMk cId="0" sldId="271"/>
            <ac:spMk id="7" creationId="{00000000-0000-0000-0000-000000000000}"/>
          </ac:spMkLst>
        </pc:spChg>
      </pc:sldChg>
      <pc:sldChg chg="modSp mod">
        <pc:chgData name="NIKET TALIKOTI" userId="4dd9bec4b35b9990" providerId="LiveId" clId="{035AA99E-907A-436A-96FA-B516BF55F64F}" dt="2025-04-15T11:30:56.179" v="87" actId="20577"/>
        <pc:sldMkLst>
          <pc:docMk/>
          <pc:sldMk cId="0" sldId="272"/>
        </pc:sldMkLst>
        <pc:spChg chg="mod">
          <ac:chgData name="NIKET TALIKOTI" userId="4dd9bec4b35b9990" providerId="LiveId" clId="{035AA99E-907A-436A-96FA-B516BF55F64F}" dt="2025-04-15T11:30:56.179" v="87" actId="20577"/>
          <ac:spMkLst>
            <pc:docMk/>
            <pc:sldMk cId="0" sldId="272"/>
            <ac:spMk id="6" creationId="{00000000-0000-0000-0000-000000000000}"/>
          </ac:spMkLst>
        </pc:spChg>
      </pc:sldChg>
      <pc:sldChg chg="modSp mod">
        <pc:chgData name="NIKET TALIKOTI" userId="4dd9bec4b35b9990" providerId="LiveId" clId="{035AA99E-907A-436A-96FA-B516BF55F64F}" dt="2025-04-15T11:32:18.595" v="100" actId="20577"/>
        <pc:sldMkLst>
          <pc:docMk/>
          <pc:sldMk cId="0" sldId="273"/>
        </pc:sldMkLst>
        <pc:spChg chg="mod">
          <ac:chgData name="NIKET TALIKOTI" userId="4dd9bec4b35b9990" providerId="LiveId" clId="{035AA99E-907A-436A-96FA-B516BF55F64F}" dt="2025-04-15T11:31:17.408" v="90" actId="20577"/>
          <ac:spMkLst>
            <pc:docMk/>
            <pc:sldMk cId="0" sldId="273"/>
            <ac:spMk id="6" creationId="{00000000-0000-0000-0000-000000000000}"/>
          </ac:spMkLst>
        </pc:spChg>
        <pc:spChg chg="mod">
          <ac:chgData name="NIKET TALIKOTI" userId="4dd9bec4b35b9990" providerId="LiveId" clId="{035AA99E-907A-436A-96FA-B516BF55F64F}" dt="2025-04-15T11:32:18.595" v="100" actId="20577"/>
          <ac:spMkLst>
            <pc:docMk/>
            <pc:sldMk cId="0" sldId="273"/>
            <ac:spMk id="8"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hyperlink" Target="https://drive.google.com/file/d/1Mx0PEFsVxKikhcCcC0Okc8KwW8SC4BYt/view?usp=sharing" TargetMode="Externa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6.jpeg"/><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a:stretch>
          </a:blipFill>
        </p:spPr>
      </p:sp>
      <p:sp>
        <p:nvSpPr>
          <p:cNvPr id="4" name="Freeform 4"/>
          <p:cNvSpPr/>
          <p:nvPr/>
        </p:nvSpPr>
        <p:spPr>
          <a:xfrm>
            <a:off x="616201" y="280654"/>
            <a:ext cx="2066925" cy="1390650"/>
          </a:xfrm>
          <a:custGeom>
            <a:avLst/>
            <a:gdLst/>
            <a:ahLst/>
            <a:cxnLst/>
            <a:rect l="l" t="t" r="r" b="b"/>
            <a:pathLst>
              <a:path w="2066925" h="1390650">
                <a:moveTo>
                  <a:pt x="0" y="0"/>
                </a:moveTo>
                <a:lnTo>
                  <a:pt x="2066925" y="0"/>
                </a:lnTo>
                <a:lnTo>
                  <a:pt x="2066925" y="1390650"/>
                </a:lnTo>
                <a:lnTo>
                  <a:pt x="0" y="1390650"/>
                </a:lnTo>
                <a:lnTo>
                  <a:pt x="0" y="0"/>
                </a:lnTo>
                <a:close/>
              </a:path>
            </a:pathLst>
          </a:custGeom>
          <a:blipFill>
            <a:blip r:embed="rId5"/>
            <a:stretch>
              <a:fillRect t="-24061" b="-24568"/>
            </a:stretch>
          </a:blipFill>
        </p:spPr>
      </p:sp>
      <p:sp>
        <p:nvSpPr>
          <p:cNvPr id="5" name="Freeform 5"/>
          <p:cNvSpPr/>
          <p:nvPr/>
        </p:nvSpPr>
        <p:spPr>
          <a:xfrm>
            <a:off x="6396409" y="3213240"/>
            <a:ext cx="5486400" cy="5486400"/>
          </a:xfrm>
          <a:custGeom>
            <a:avLst/>
            <a:gdLst/>
            <a:ahLst/>
            <a:cxnLst/>
            <a:rect l="l" t="t" r="r" b="b"/>
            <a:pathLst>
              <a:path w="5486400" h="5486400">
                <a:moveTo>
                  <a:pt x="0" y="0"/>
                </a:moveTo>
                <a:lnTo>
                  <a:pt x="5486400" y="0"/>
                </a:lnTo>
                <a:lnTo>
                  <a:pt x="5486400" y="5486400"/>
                </a:lnTo>
                <a:lnTo>
                  <a:pt x="0" y="5486400"/>
                </a:lnTo>
                <a:lnTo>
                  <a:pt x="0" y="0"/>
                </a:lnTo>
                <a:close/>
              </a:path>
            </a:pathLst>
          </a:custGeom>
          <a:blipFill>
            <a:blip r:embed="rId6"/>
            <a:stretch>
              <a:fillRect/>
            </a:stretch>
          </a:blipFill>
        </p:spPr>
      </p:sp>
      <p:sp>
        <p:nvSpPr>
          <p:cNvPr id="7" name="TextBox 7"/>
          <p:cNvSpPr txBox="1"/>
          <p:nvPr/>
        </p:nvSpPr>
        <p:spPr>
          <a:xfrm>
            <a:off x="4038600" y="1512703"/>
            <a:ext cx="10787177" cy="1188530"/>
          </a:xfrm>
          <a:prstGeom prst="rect">
            <a:avLst/>
          </a:prstGeom>
        </p:spPr>
        <p:txBody>
          <a:bodyPr wrap="square" lIns="0" tIns="0" rIns="0" bIns="0" rtlCol="0" anchor="t">
            <a:spAutoFit/>
          </a:bodyPr>
          <a:lstStyle/>
          <a:p>
            <a:pPr algn="l">
              <a:lnSpc>
                <a:spcPts val="10080"/>
              </a:lnSpc>
            </a:pPr>
            <a:r>
              <a:rPr lang="en-US" sz="7200" b="1" dirty="0">
                <a:solidFill>
                  <a:srgbClr val="111019"/>
                </a:solidFill>
                <a:latin typeface="Inter Bold"/>
                <a:ea typeface="Inter Bold"/>
                <a:cs typeface="Inter Bold"/>
                <a:sym typeface="Inter Bold"/>
              </a:rPr>
              <a:t>FedEx LOGISTICS EDA </a:t>
            </a:r>
          </a:p>
        </p:txBody>
      </p:sp>
      <p:sp>
        <p:nvSpPr>
          <p:cNvPr id="8" name="TextBox 8"/>
          <p:cNvSpPr txBox="1"/>
          <p:nvPr/>
        </p:nvSpPr>
        <p:spPr>
          <a:xfrm>
            <a:off x="12573000" y="8344348"/>
            <a:ext cx="4800600" cy="1410194"/>
          </a:xfrm>
          <a:prstGeom prst="rect">
            <a:avLst/>
          </a:prstGeom>
        </p:spPr>
        <p:txBody>
          <a:bodyPr wrap="square" lIns="0" tIns="0" rIns="0" bIns="0" rtlCol="0" anchor="t">
            <a:spAutoFit/>
          </a:bodyPr>
          <a:lstStyle/>
          <a:p>
            <a:pPr algn="l">
              <a:lnSpc>
                <a:spcPts val="5774"/>
              </a:lnSpc>
            </a:pPr>
            <a:r>
              <a:rPr lang="en-US" sz="3600" b="1" spc="36" dirty="0">
                <a:solidFill>
                  <a:srgbClr val="111019"/>
                </a:solidFill>
                <a:latin typeface="Inter Bold"/>
                <a:ea typeface="Inter Bold"/>
                <a:cs typeface="Inter Bold"/>
                <a:sym typeface="Inter Bold"/>
              </a:rPr>
              <a:t>By:</a:t>
            </a:r>
          </a:p>
          <a:p>
            <a:pPr algn="l">
              <a:lnSpc>
                <a:spcPts val="5774"/>
              </a:lnSpc>
            </a:pPr>
            <a:r>
              <a:rPr lang="en-US" sz="3600" b="1" spc="36" dirty="0">
                <a:solidFill>
                  <a:srgbClr val="111019"/>
                </a:solidFill>
                <a:latin typeface="Inter Bold"/>
                <a:ea typeface="Inter Bold"/>
                <a:cs typeface="Inter Bold"/>
                <a:sym typeface="Inter Bold"/>
              </a:rPr>
              <a:t> NIKET TALIKOTI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1"/>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5" name="TextBox 5"/>
          <p:cNvSpPr txBox="1"/>
          <p:nvPr/>
        </p:nvSpPr>
        <p:spPr>
          <a:xfrm>
            <a:off x="1096296" y="0"/>
            <a:ext cx="15488265" cy="5458033"/>
          </a:xfrm>
          <a:prstGeom prst="rect">
            <a:avLst/>
          </a:prstGeom>
        </p:spPr>
        <p:txBody>
          <a:bodyPr wrap="square" lIns="0" tIns="0" rIns="0" bIns="0" rtlCol="0" anchor="t">
            <a:spAutoFit/>
          </a:bodyPr>
          <a:lstStyle/>
          <a:p>
            <a:pPr algn="just">
              <a:lnSpc>
                <a:spcPts val="10080"/>
              </a:lnSpc>
            </a:pPr>
            <a:r>
              <a:rPr lang="en-US" sz="7200" b="1" dirty="0">
                <a:solidFill>
                  <a:srgbClr val="FAFAFC"/>
                </a:solidFill>
                <a:latin typeface="Lato Bold"/>
                <a:ea typeface="Lato Bold"/>
                <a:cs typeface="Lato Bold"/>
                <a:sym typeface="Lato Bold"/>
              </a:rPr>
              <a:t>Project Summary –</a:t>
            </a:r>
          </a:p>
          <a:p>
            <a:pPr algn="just">
              <a:lnSpc>
                <a:spcPts val="10080"/>
              </a:lnSpc>
            </a:pPr>
            <a:endParaRPr lang="en-US" sz="7200" b="1" dirty="0">
              <a:solidFill>
                <a:srgbClr val="FAFAFC"/>
              </a:solidFill>
              <a:latin typeface="Lato Bold"/>
              <a:ea typeface="Lato Bold"/>
              <a:cs typeface="Lato Bold"/>
              <a:sym typeface="Lato Bold"/>
            </a:endParaRPr>
          </a:p>
          <a:p>
            <a:pPr algn="just">
              <a:lnSpc>
                <a:spcPts val="3837"/>
              </a:lnSpc>
            </a:pPr>
            <a:r>
              <a:rPr lang="en-US" sz="2400" spc="60" dirty="0">
                <a:solidFill>
                  <a:srgbClr val="939DA8"/>
                </a:solidFill>
                <a:latin typeface="Lato"/>
                <a:ea typeface="Lato"/>
                <a:cs typeface="Lato"/>
                <a:sym typeface="Lato"/>
              </a:rPr>
              <a:t>•</a:t>
            </a:r>
            <a:r>
              <a:rPr lang="en-US" sz="2400" spc="60" dirty="0">
                <a:solidFill>
                  <a:srgbClr val="FAFAFC"/>
                </a:solidFill>
                <a:latin typeface="Lato"/>
                <a:ea typeface="Lato"/>
                <a:cs typeface="Lato"/>
                <a:sym typeface="Lato"/>
              </a:rPr>
              <a:t>This project focuses on performing Exploratory Data Analysis (EDA) on a FedEx logistics dataset, aiming to uncover insights and optimize logistics processes. The dataset consists of 10,324 entries and 33 columns, containing detailed shipment, product, and logistics information such as project codes, shipment modes, product descriptions, freight costs, and delivery dates. Key columns include shipment-related details like Shipment Mode, Scheduled Delivery Date, and Freight Cost (USD), along with product-specific information such as Brand, Dosage, and Item Description.</a:t>
            </a:r>
          </a:p>
        </p:txBody>
      </p:sp>
      <p:sp>
        <p:nvSpPr>
          <p:cNvPr id="6" name="TextBox 6"/>
          <p:cNvSpPr txBox="1"/>
          <p:nvPr/>
        </p:nvSpPr>
        <p:spPr>
          <a:xfrm>
            <a:off x="1096296" y="5458033"/>
            <a:ext cx="15582900" cy="3354893"/>
          </a:xfrm>
          <a:prstGeom prst="rect">
            <a:avLst/>
          </a:prstGeom>
        </p:spPr>
        <p:txBody>
          <a:bodyPr wrap="square" lIns="0" tIns="0" rIns="0" bIns="0" rtlCol="0" anchor="t">
            <a:spAutoFit/>
          </a:bodyPr>
          <a:lstStyle/>
          <a:p>
            <a:pPr algn="just">
              <a:lnSpc>
                <a:spcPts val="3837"/>
              </a:lnSpc>
            </a:pPr>
            <a:r>
              <a:rPr lang="en-US" sz="2400" dirty="0">
                <a:solidFill>
                  <a:srgbClr val="FAFAFC"/>
                </a:solidFill>
                <a:latin typeface="Lato"/>
                <a:ea typeface="Lato"/>
                <a:cs typeface="Lato"/>
                <a:sym typeface="Lato"/>
              </a:rPr>
              <a:t> </a:t>
            </a:r>
            <a:r>
              <a:rPr lang="en-US" sz="2400" dirty="0">
                <a:solidFill>
                  <a:srgbClr val="939DA8"/>
                </a:solidFill>
                <a:latin typeface="Lato"/>
                <a:ea typeface="Lato"/>
                <a:cs typeface="Lato"/>
                <a:sym typeface="Lato"/>
              </a:rPr>
              <a:t>•</a:t>
            </a:r>
            <a:r>
              <a:rPr lang="en-US" sz="2400" dirty="0">
                <a:solidFill>
                  <a:srgbClr val="FAFAFC"/>
                </a:solidFill>
                <a:latin typeface="Lato"/>
                <a:ea typeface="Lato"/>
                <a:cs typeface="Lato"/>
                <a:sym typeface="Lato"/>
              </a:rPr>
              <a:t>EDA steps in this project include cleaning the data by handling missing values, converting incorrect data types, and managing outliers. Data visualization techniques are applied to identify patterns and correlations between different attributes, especially focusing on shipment costs, product types, and delivery performance. Descriptive statistics are used to summarize the key metrics, while deeper exploratory analysis helps identify areas for improvement in the logistics and supply chain process. The project uses tools like Pandas for data manipulation, Matplotlib and Seaborn for visualization, and </a:t>
            </a:r>
            <a:r>
              <a:rPr lang="en-US" sz="2400" dirty="0" err="1">
                <a:solidFill>
                  <a:srgbClr val="FAFAFC"/>
                </a:solidFill>
                <a:latin typeface="Lato"/>
                <a:ea typeface="Lato"/>
                <a:cs typeface="Lato"/>
                <a:sym typeface="Lato"/>
              </a:rPr>
              <a:t>Jupyter</a:t>
            </a:r>
            <a:r>
              <a:rPr lang="en-US" sz="2400" dirty="0">
                <a:solidFill>
                  <a:srgbClr val="FAFAFC"/>
                </a:solidFill>
                <a:latin typeface="Lato"/>
                <a:ea typeface="Lato"/>
                <a:cs typeface="Lato"/>
                <a:sym typeface="Lato"/>
              </a:rPr>
              <a:t> Notebook for analysis documentation. Insights gained from the analysis can potentially lead to improved decision-making and cost optimization in logistics operations.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5" name="TextBox 5"/>
          <p:cNvSpPr txBox="1"/>
          <p:nvPr/>
        </p:nvSpPr>
        <p:spPr>
          <a:xfrm>
            <a:off x="4419600" y="0"/>
            <a:ext cx="8126530" cy="1230630"/>
          </a:xfrm>
          <a:prstGeom prst="rect">
            <a:avLst/>
          </a:prstGeom>
        </p:spPr>
        <p:txBody>
          <a:bodyPr lIns="0" tIns="0" rIns="0" bIns="0" rtlCol="0" anchor="t">
            <a:spAutoFit/>
          </a:bodyPr>
          <a:lstStyle/>
          <a:p>
            <a:pPr algn="l">
              <a:lnSpc>
                <a:spcPts val="10080"/>
              </a:lnSpc>
            </a:pPr>
            <a:r>
              <a:rPr lang="en-US" sz="7200" b="1" dirty="0">
                <a:solidFill>
                  <a:srgbClr val="FAFAFC"/>
                </a:solidFill>
                <a:latin typeface="Lato Bold"/>
                <a:ea typeface="Lato Bold"/>
                <a:cs typeface="Lato Bold"/>
                <a:sym typeface="Lato Bold"/>
              </a:rPr>
              <a:t>Problem Statement</a:t>
            </a:r>
          </a:p>
        </p:txBody>
      </p:sp>
      <p:sp>
        <p:nvSpPr>
          <p:cNvPr id="6" name="TextBox 6"/>
          <p:cNvSpPr txBox="1"/>
          <p:nvPr/>
        </p:nvSpPr>
        <p:spPr>
          <a:xfrm>
            <a:off x="1066800" y="1760458"/>
            <a:ext cx="16154400" cy="6766083"/>
          </a:xfrm>
          <a:prstGeom prst="rect">
            <a:avLst/>
          </a:prstGeom>
        </p:spPr>
        <p:txBody>
          <a:bodyPr wrap="square" lIns="0" tIns="0" rIns="0" bIns="0" rtlCol="0" anchor="t">
            <a:spAutoFit/>
          </a:bodyPr>
          <a:lstStyle/>
          <a:p>
            <a:pPr algn="just">
              <a:lnSpc>
                <a:spcPts val="3844"/>
              </a:lnSpc>
            </a:pPr>
            <a:r>
              <a:rPr lang="en-US" sz="2400" spc="57" dirty="0">
                <a:solidFill>
                  <a:srgbClr val="FFFFFF"/>
                </a:solidFill>
                <a:latin typeface="Lato"/>
                <a:ea typeface="Lato"/>
                <a:cs typeface="Lato"/>
                <a:sym typeface="Lato"/>
              </a:rPr>
              <a:t>The problem statement for this project is to perform Exploratory Data Analysis (EDA) on a FedEx logistics dataset to identify patterns, trends, and insights that can optimize logistics processes and improve decision-making. The dataset contains information on over 10,000 shipments, including shipment details, product descriptions, freight costs, delivery dates, and more. The goal is to analyze the relationships between various attributes such as shipment modes, delivery performance, product types, and associated costs. The project aims to:</a:t>
            </a:r>
          </a:p>
          <a:p>
            <a:pPr algn="just">
              <a:lnSpc>
                <a:spcPts val="3844"/>
              </a:lnSpc>
            </a:pPr>
            <a:r>
              <a:rPr lang="en-US" sz="2400" dirty="0">
                <a:solidFill>
                  <a:srgbClr val="FFFFFF"/>
                </a:solidFill>
                <a:latin typeface="Lato"/>
                <a:ea typeface="Lato"/>
                <a:cs typeface="Lato"/>
                <a:sym typeface="Lato"/>
              </a:rPr>
              <a:t> </a:t>
            </a:r>
          </a:p>
          <a:p>
            <a:pPr marL="457200" indent="-457200" algn="just">
              <a:lnSpc>
                <a:spcPts val="3844"/>
              </a:lnSpc>
              <a:buAutoNum type="arabicPeriod"/>
            </a:pPr>
            <a:r>
              <a:rPr lang="en-US" sz="2400" dirty="0">
                <a:solidFill>
                  <a:srgbClr val="FFFFFF"/>
                </a:solidFill>
                <a:latin typeface="Lato"/>
                <a:ea typeface="Lato"/>
                <a:cs typeface="Lato"/>
                <a:sym typeface="Lato"/>
              </a:rPr>
              <a:t>Clean the dataset by handling missing values, correcting data types, and addressing any inconsistencies. </a:t>
            </a:r>
          </a:p>
          <a:p>
            <a:pPr algn="just">
              <a:lnSpc>
                <a:spcPts val="3844"/>
              </a:lnSpc>
            </a:pPr>
            <a:r>
              <a:rPr lang="en-US" sz="2400" dirty="0">
                <a:solidFill>
                  <a:srgbClr val="FFFFFF"/>
                </a:solidFill>
                <a:latin typeface="Lato"/>
                <a:ea typeface="Lato"/>
                <a:cs typeface="Lato"/>
                <a:sym typeface="Lato"/>
              </a:rPr>
              <a:t>2. Explore and visualize key metrics such as shipment costs, delivery times, and product characteristics. </a:t>
            </a:r>
          </a:p>
          <a:p>
            <a:pPr algn="just">
              <a:lnSpc>
                <a:spcPts val="3844"/>
              </a:lnSpc>
            </a:pPr>
            <a:r>
              <a:rPr lang="en-US" sz="2400" dirty="0">
                <a:solidFill>
                  <a:srgbClr val="FFFFFF"/>
                </a:solidFill>
                <a:latin typeface="Lato"/>
                <a:ea typeface="Lato"/>
                <a:cs typeface="Lato"/>
                <a:sym typeface="Lato"/>
              </a:rPr>
              <a:t>3. Identify factors that impact freight costs, delivery delays, and shipment efficiency.</a:t>
            </a:r>
          </a:p>
          <a:p>
            <a:pPr algn="just">
              <a:lnSpc>
                <a:spcPts val="3844"/>
              </a:lnSpc>
            </a:pPr>
            <a:r>
              <a:rPr lang="en-US" sz="2400" dirty="0">
                <a:solidFill>
                  <a:srgbClr val="FFFFFF"/>
                </a:solidFill>
                <a:latin typeface="Lato"/>
                <a:ea typeface="Lato"/>
                <a:cs typeface="Lato"/>
                <a:sym typeface="Lato"/>
              </a:rPr>
              <a:t> 4. Provide actionable insights and recommendations for optimizing FedEx’s logistics operations, such as cost reduction strategies, improvements in shipment scheduling, and enhancements in product categorization. </a:t>
            </a:r>
          </a:p>
          <a:p>
            <a:pPr algn="just">
              <a:lnSpc>
                <a:spcPts val="3844"/>
              </a:lnSpc>
            </a:pPr>
            <a:r>
              <a:rPr lang="en-US" sz="2400" dirty="0">
                <a:solidFill>
                  <a:srgbClr val="FFFFFF"/>
                </a:solidFill>
                <a:latin typeface="Lato"/>
                <a:ea typeface="Lato"/>
                <a:cs typeface="Lato"/>
                <a:sym typeface="Lato"/>
              </a:rPr>
              <a:t>By conducting thorough EDA, the project seeks to uncover valuable insights that can help FedEx enhance their logistics strategy, streamline operations, and ultimately deliver more efficient and cost-effective services to their clients. its   clients.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5" name="TextBox 5"/>
          <p:cNvSpPr txBox="1"/>
          <p:nvPr/>
        </p:nvSpPr>
        <p:spPr>
          <a:xfrm>
            <a:off x="3733800" y="0"/>
            <a:ext cx="7888224" cy="1230630"/>
          </a:xfrm>
          <a:prstGeom prst="rect">
            <a:avLst/>
          </a:prstGeom>
        </p:spPr>
        <p:txBody>
          <a:bodyPr lIns="0" tIns="0" rIns="0" bIns="0" rtlCol="0" anchor="t">
            <a:spAutoFit/>
          </a:bodyPr>
          <a:lstStyle/>
          <a:p>
            <a:pPr algn="l">
              <a:lnSpc>
                <a:spcPts val="10080"/>
              </a:lnSpc>
            </a:pPr>
            <a:r>
              <a:rPr lang="en-US" sz="7200" b="1" dirty="0">
                <a:solidFill>
                  <a:srgbClr val="FFFFFF"/>
                </a:solidFill>
                <a:latin typeface="Lato Bold"/>
                <a:ea typeface="Lato Bold"/>
                <a:cs typeface="Lato Bold"/>
                <a:sym typeface="Lato Bold"/>
              </a:rPr>
              <a:t>Business Objective</a:t>
            </a:r>
          </a:p>
        </p:txBody>
      </p:sp>
      <p:sp>
        <p:nvSpPr>
          <p:cNvPr id="6" name="TextBox 6"/>
          <p:cNvSpPr txBox="1"/>
          <p:nvPr/>
        </p:nvSpPr>
        <p:spPr>
          <a:xfrm>
            <a:off x="1142999" y="1516802"/>
            <a:ext cx="15773401" cy="7740709"/>
          </a:xfrm>
          <a:prstGeom prst="rect">
            <a:avLst/>
          </a:prstGeom>
        </p:spPr>
        <p:txBody>
          <a:bodyPr wrap="square" lIns="0" tIns="0" rIns="0" bIns="0" rtlCol="0" anchor="t">
            <a:spAutoFit/>
          </a:bodyPr>
          <a:lstStyle/>
          <a:p>
            <a:pPr algn="just">
              <a:lnSpc>
                <a:spcPts val="3844"/>
              </a:lnSpc>
            </a:pPr>
            <a:r>
              <a:rPr lang="en-US" sz="2400" spc="36" dirty="0">
                <a:solidFill>
                  <a:srgbClr val="FFFFFF"/>
                </a:solidFill>
                <a:latin typeface="Lato"/>
                <a:ea typeface="Lato"/>
                <a:cs typeface="Lato"/>
                <a:sym typeface="Lato"/>
              </a:rPr>
              <a:t>The business objective of this project is to leverage data-driven insights to optimize the logistics operations of FedEx, focusing on improving efficiency, reducing costs, and enhancing customer satisfaction. By performing Exploratory Data Analysis (EDA) on the logistics dataset, the aim is to: </a:t>
            </a:r>
          </a:p>
          <a:p>
            <a:pPr marL="457200" indent="-457200" algn="just">
              <a:lnSpc>
                <a:spcPts val="3844"/>
              </a:lnSpc>
              <a:buAutoNum type="arabicPeriod"/>
            </a:pPr>
            <a:r>
              <a:rPr lang="en-US" sz="2400" spc="36" dirty="0">
                <a:solidFill>
                  <a:srgbClr val="FFFFFF"/>
                </a:solidFill>
                <a:latin typeface="Lato"/>
                <a:ea typeface="Lato"/>
                <a:cs typeface="Lato"/>
                <a:sym typeface="Lato"/>
              </a:rPr>
              <a:t>Optimize Freight Costs: Identify patterns and factors that influence freight costs to develop strategies for reducing shipping expenses while maintaining service quality. </a:t>
            </a:r>
          </a:p>
          <a:p>
            <a:pPr algn="just">
              <a:lnSpc>
                <a:spcPts val="3844"/>
              </a:lnSpc>
            </a:pPr>
            <a:r>
              <a:rPr lang="en-US" sz="2400" spc="36" dirty="0">
                <a:solidFill>
                  <a:srgbClr val="FFFFFF"/>
                </a:solidFill>
                <a:latin typeface="Lato"/>
                <a:ea typeface="Lato"/>
                <a:cs typeface="Lato"/>
                <a:sym typeface="Lato"/>
              </a:rPr>
              <a:t>2. Enhance Delivery Efficiency: Analyze delivery timelines and factors contributing to delays, enabling improvements in shipment scheduling, route optimization, and resource allocation to ensure timely deliveries. </a:t>
            </a:r>
          </a:p>
          <a:p>
            <a:pPr algn="just">
              <a:lnSpc>
                <a:spcPts val="3844"/>
              </a:lnSpc>
            </a:pPr>
            <a:r>
              <a:rPr lang="en-US" sz="2400" spc="36" dirty="0">
                <a:solidFill>
                  <a:srgbClr val="FFFFFF"/>
                </a:solidFill>
                <a:latin typeface="Lato"/>
                <a:ea typeface="Lato"/>
                <a:cs typeface="Lato"/>
                <a:sym typeface="Lato"/>
              </a:rPr>
              <a:t>3. Improve Product Categorization: Explore how product classifications and descriptions impact logistics processes, leading to better inventory management and streamlined handling of shipments. </a:t>
            </a:r>
          </a:p>
          <a:p>
            <a:pPr algn="just">
              <a:lnSpc>
                <a:spcPts val="3844"/>
              </a:lnSpc>
            </a:pPr>
            <a:r>
              <a:rPr lang="en-US" sz="2400" spc="36" dirty="0">
                <a:solidFill>
                  <a:srgbClr val="FFFFFF"/>
                </a:solidFill>
                <a:latin typeface="Lato"/>
                <a:ea typeface="Lato"/>
                <a:cs typeface="Lato"/>
                <a:sym typeface="Lato"/>
              </a:rPr>
              <a:t>4. Identify Operational Bottlenecks: Pinpoint areas of inefficiency or inconsistencies in the logistics chain, allowing for process improvements that increase operational productivity. </a:t>
            </a:r>
          </a:p>
          <a:p>
            <a:pPr algn="just">
              <a:lnSpc>
                <a:spcPts val="3844"/>
              </a:lnSpc>
            </a:pPr>
            <a:r>
              <a:rPr lang="en-US" sz="2400" spc="36" dirty="0">
                <a:solidFill>
                  <a:srgbClr val="FFFFFF"/>
                </a:solidFill>
                <a:latin typeface="Lato"/>
                <a:ea typeface="Lato"/>
                <a:cs typeface="Lato"/>
                <a:sym typeface="Lato"/>
              </a:rPr>
              <a:t>5. Support Data-Driven Decision Making: Provide actionable insights to decision-makers, enabling them to make informed choices that optimize logistics operations, reduce costs, and improve overall service quality. </a:t>
            </a:r>
          </a:p>
          <a:p>
            <a:pPr algn="just">
              <a:lnSpc>
                <a:spcPts val="3844"/>
              </a:lnSpc>
            </a:pPr>
            <a:endParaRPr lang="en-US" sz="2400" spc="36" dirty="0">
              <a:solidFill>
                <a:srgbClr val="FFFFFF"/>
              </a:solidFill>
              <a:latin typeface="Lato"/>
              <a:ea typeface="Lato"/>
              <a:cs typeface="Lato"/>
              <a:sym typeface="Lato"/>
            </a:endParaRPr>
          </a:p>
          <a:p>
            <a:pPr algn="just">
              <a:lnSpc>
                <a:spcPts val="3844"/>
              </a:lnSpc>
            </a:pPr>
            <a:r>
              <a:rPr lang="en-US" sz="2400" spc="36" dirty="0">
                <a:solidFill>
                  <a:srgbClr val="FFFFFF"/>
                </a:solidFill>
                <a:latin typeface="Lato"/>
                <a:ea typeface="Lato"/>
                <a:cs typeface="Lato"/>
                <a:sym typeface="Lato"/>
              </a:rPr>
              <a:t>Ultimately, the business objective is to transform data into valuable insights that lead to more cost-effective, efficient, and reliable logistics solutions, benefiting both FedEx and its clients.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7" name="TextBox 7"/>
          <p:cNvSpPr txBox="1"/>
          <p:nvPr/>
        </p:nvSpPr>
        <p:spPr>
          <a:xfrm>
            <a:off x="1981200" y="8936007"/>
            <a:ext cx="14744652" cy="439223"/>
          </a:xfrm>
          <a:prstGeom prst="rect">
            <a:avLst/>
          </a:prstGeom>
        </p:spPr>
        <p:txBody>
          <a:bodyPr lIns="0" tIns="0" rIns="0" bIns="0" rtlCol="0" anchor="t">
            <a:spAutoFit/>
          </a:bodyPr>
          <a:lstStyle/>
          <a:p>
            <a:pPr algn="l">
              <a:lnSpc>
                <a:spcPts val="3779"/>
              </a:lnSpc>
            </a:pPr>
            <a:r>
              <a:rPr lang="en-US" sz="2700" spc="16" dirty="0">
                <a:solidFill>
                  <a:srgbClr val="939DA8"/>
                </a:solidFill>
                <a:latin typeface="Lato"/>
                <a:ea typeface="Lato"/>
                <a:cs typeface="Lato"/>
                <a:sym typeface="Lato"/>
                <a:hlinkClick r:id="rId5" tooltip="https://drive.google.com/file/d/1Mx0PEFsVxKikhcCcC0Okc8KwW8SC4BYt/view?usp=sharing"/>
              </a:rPr>
              <a:t>https://drive.google.com/file/d/1Mx0PEFsVxKikhcCcC0Okc8KwW8SC4BYt/view?usp=sharing</a:t>
            </a:r>
          </a:p>
        </p:txBody>
      </p:sp>
      <p:sp>
        <p:nvSpPr>
          <p:cNvPr id="8" name="TextBox 8"/>
          <p:cNvSpPr txBox="1"/>
          <p:nvPr/>
        </p:nvSpPr>
        <p:spPr>
          <a:xfrm>
            <a:off x="981765" y="1342861"/>
            <a:ext cx="16324469" cy="7360669"/>
          </a:xfrm>
          <a:prstGeom prst="rect">
            <a:avLst/>
          </a:prstGeom>
        </p:spPr>
        <p:txBody>
          <a:bodyPr wrap="square" lIns="0" tIns="0" rIns="0" bIns="0" rtlCol="0" anchor="t">
            <a:spAutoFit/>
          </a:bodyPr>
          <a:lstStyle/>
          <a:p>
            <a:pPr algn="l">
              <a:lnSpc>
                <a:spcPts val="3366"/>
              </a:lnSpc>
            </a:pPr>
            <a:r>
              <a:rPr lang="en-US" sz="2100" spc="12" dirty="0">
                <a:solidFill>
                  <a:srgbClr val="FFFFFF"/>
                </a:solidFill>
                <a:latin typeface="Lato"/>
                <a:ea typeface="Lato"/>
                <a:cs typeface="Lato"/>
                <a:sym typeface="Lato"/>
              </a:rPr>
              <a:t>The dataset is a detailed FedEx logistics dataset with 10,324 entries and 33 columns. It contains information on shipments, product details, and logistics operations. The data includes both numerical and categorical types, covering shipment processes, product attributes, and costs. </a:t>
            </a:r>
          </a:p>
          <a:p>
            <a:pPr algn="l">
              <a:lnSpc>
                <a:spcPts val="3366"/>
              </a:lnSpc>
            </a:pPr>
            <a:r>
              <a:rPr lang="en-US" sz="2100" b="1" spc="12" dirty="0">
                <a:solidFill>
                  <a:srgbClr val="FF0000"/>
                </a:solidFill>
                <a:latin typeface="Lato"/>
                <a:ea typeface="Lato"/>
                <a:cs typeface="Lato"/>
                <a:sym typeface="Lato"/>
              </a:rPr>
              <a:t>Key Features: </a:t>
            </a:r>
          </a:p>
          <a:p>
            <a:pPr marL="457200" indent="-457200" algn="l">
              <a:lnSpc>
                <a:spcPts val="3366"/>
              </a:lnSpc>
              <a:buAutoNum type="arabicPeriod"/>
            </a:pPr>
            <a:r>
              <a:rPr lang="en-US" sz="2100" spc="12" dirty="0">
                <a:solidFill>
                  <a:srgbClr val="FFFFFF"/>
                </a:solidFill>
                <a:latin typeface="Lato"/>
                <a:ea typeface="Lato"/>
                <a:cs typeface="Lato"/>
                <a:sym typeface="Lato"/>
              </a:rPr>
              <a:t>Shipment Details: - Columns like `Project Code`, `PQ #`, `PO / SO #`, and `ASN/DN #` provide shipment tracking IDs. - Details about shipment mode (e.g., air, sea, land) and delivery dates (`Scheduled Delivery Date`, `Delivered to Client Date`) are included. </a:t>
            </a:r>
          </a:p>
          <a:p>
            <a:pPr algn="l">
              <a:lnSpc>
                <a:spcPts val="3366"/>
              </a:lnSpc>
            </a:pPr>
            <a:endParaRPr lang="en-US" sz="2100" spc="12" dirty="0">
              <a:solidFill>
                <a:srgbClr val="FFFFFF"/>
              </a:solidFill>
              <a:latin typeface="Lato"/>
              <a:ea typeface="Lato"/>
              <a:cs typeface="Lato"/>
              <a:sym typeface="Lato"/>
            </a:endParaRPr>
          </a:p>
          <a:p>
            <a:pPr algn="l">
              <a:lnSpc>
                <a:spcPts val="3366"/>
              </a:lnSpc>
            </a:pPr>
            <a:r>
              <a:rPr lang="en-US" sz="2100" spc="12" dirty="0">
                <a:solidFill>
                  <a:srgbClr val="FFFFFF"/>
                </a:solidFill>
                <a:latin typeface="Lato"/>
                <a:ea typeface="Lato"/>
                <a:cs typeface="Lato"/>
                <a:sym typeface="Lato"/>
              </a:rPr>
              <a:t>2. Product Information: - Data on product categories (`Product Group`, `Brand`) and descriptions (`Item Description`, `Dosage`). - Information on product size and quantity (`Weight (Kilograms)`, `Unit of Measure (Per Pack)`). </a:t>
            </a:r>
          </a:p>
          <a:p>
            <a:pPr algn="l">
              <a:lnSpc>
                <a:spcPts val="3366"/>
              </a:lnSpc>
            </a:pPr>
            <a:endParaRPr lang="en-US" sz="2100" spc="12" dirty="0">
              <a:solidFill>
                <a:srgbClr val="FFFFFF"/>
              </a:solidFill>
              <a:latin typeface="Lato"/>
              <a:ea typeface="Lato"/>
              <a:cs typeface="Lato"/>
              <a:sym typeface="Lato"/>
            </a:endParaRPr>
          </a:p>
          <a:p>
            <a:pPr algn="l">
              <a:lnSpc>
                <a:spcPts val="3366"/>
              </a:lnSpc>
            </a:pPr>
            <a:r>
              <a:rPr lang="en-US" sz="2100" spc="12" dirty="0">
                <a:solidFill>
                  <a:srgbClr val="FFFFFF"/>
                </a:solidFill>
                <a:latin typeface="Lato"/>
                <a:ea typeface="Lato"/>
                <a:cs typeface="Lato"/>
                <a:sym typeface="Lato"/>
              </a:rPr>
              <a:t>3. Costs: - Shipping costs (`Freight Cost (USD)`, `Line Item Insurance (USD)`). - Pricing details (`Pack Price`, `Unit Price`, `Line Item Value`). </a:t>
            </a:r>
          </a:p>
          <a:p>
            <a:pPr algn="l">
              <a:lnSpc>
                <a:spcPts val="3366"/>
              </a:lnSpc>
            </a:pPr>
            <a:endParaRPr lang="en-US" sz="2100" spc="12" dirty="0">
              <a:solidFill>
                <a:srgbClr val="FFFFFF"/>
              </a:solidFill>
              <a:latin typeface="Lato"/>
              <a:ea typeface="Lato"/>
              <a:cs typeface="Lato"/>
              <a:sym typeface="Lato"/>
            </a:endParaRPr>
          </a:p>
          <a:p>
            <a:pPr algn="l">
              <a:lnSpc>
                <a:spcPts val="3366"/>
              </a:lnSpc>
            </a:pPr>
            <a:r>
              <a:rPr lang="en-US" sz="2100" spc="12" dirty="0">
                <a:solidFill>
                  <a:srgbClr val="FFFFFF"/>
                </a:solidFill>
                <a:latin typeface="Lato"/>
                <a:ea typeface="Lato"/>
                <a:cs typeface="Lato"/>
                <a:sym typeface="Lato"/>
              </a:rPr>
              <a:t>4. Missing Data: - Some columns, like `Shipment Mode`, `Dosage`, `Insurance`, and `Weight`, have missing values that need cleaning. </a:t>
            </a:r>
          </a:p>
          <a:p>
            <a:pPr algn="l">
              <a:lnSpc>
                <a:spcPts val="3366"/>
              </a:lnSpc>
            </a:pPr>
            <a:endParaRPr lang="en-US" sz="2100" spc="12" dirty="0">
              <a:solidFill>
                <a:srgbClr val="FFFFFF"/>
              </a:solidFill>
              <a:latin typeface="Lato"/>
              <a:ea typeface="Lato"/>
              <a:cs typeface="Lato"/>
              <a:sym typeface="Lato"/>
            </a:endParaRPr>
          </a:p>
          <a:p>
            <a:pPr algn="l">
              <a:lnSpc>
                <a:spcPts val="3366"/>
              </a:lnSpc>
            </a:pPr>
            <a:r>
              <a:rPr lang="en-US" sz="2100" spc="12" dirty="0">
                <a:solidFill>
                  <a:srgbClr val="FFFFFF"/>
                </a:solidFill>
                <a:latin typeface="Lato"/>
                <a:ea typeface="Lato"/>
                <a:cs typeface="Lato"/>
                <a:sym typeface="Lato"/>
              </a:rPr>
              <a:t>5. Data Types: - Mix of numerical (`Weight`, `Freight Cost`), categorical (`Country`, `Vendor`), and date-based data (`Scheduled Delivery Date`). This dataset is essential for analyzing trends, improving processes, and  </a:t>
            </a:r>
            <a:r>
              <a:rPr lang="en-US" sz="2100" spc="12" dirty="0" err="1">
                <a:solidFill>
                  <a:srgbClr val="FFFFFF"/>
                </a:solidFill>
                <a:latin typeface="Lato"/>
                <a:ea typeface="Lato"/>
                <a:cs typeface="Lato"/>
                <a:sym typeface="Lato"/>
              </a:rPr>
              <a:t>nding</a:t>
            </a:r>
            <a:r>
              <a:rPr lang="en-US" sz="2100" spc="12" dirty="0">
                <a:solidFill>
                  <a:srgbClr val="FFFFFF"/>
                </a:solidFill>
                <a:latin typeface="Lato"/>
                <a:ea typeface="Lato"/>
                <a:cs typeface="Lato"/>
                <a:sym typeface="Lato"/>
              </a:rPr>
              <a:t> insights for better logistics operations.</a:t>
            </a:r>
          </a:p>
        </p:txBody>
      </p:sp>
      <p:sp>
        <p:nvSpPr>
          <p:cNvPr id="6" name="TextBox 5">
            <a:extLst>
              <a:ext uri="{FF2B5EF4-FFF2-40B4-BE49-F238E27FC236}">
                <a16:creationId xmlns:a16="http://schemas.microsoft.com/office/drawing/2014/main" id="{208D6A5B-0E67-7DEF-FBE1-D450016ED8B0}"/>
              </a:ext>
            </a:extLst>
          </p:cNvPr>
          <p:cNvSpPr txBox="1"/>
          <p:nvPr/>
        </p:nvSpPr>
        <p:spPr>
          <a:xfrm>
            <a:off x="2247948" y="112185"/>
            <a:ext cx="14744652" cy="951543"/>
          </a:xfrm>
          <a:prstGeom prst="rect">
            <a:avLst/>
          </a:prstGeom>
          <a:noFill/>
        </p:spPr>
        <p:txBody>
          <a:bodyPr wrap="square" rtlCol="0">
            <a:spAutoFit/>
          </a:bodyPr>
          <a:lstStyle/>
          <a:p>
            <a:pPr algn="l">
              <a:lnSpc>
                <a:spcPts val="6719"/>
              </a:lnSpc>
            </a:pPr>
            <a:r>
              <a:rPr lang="en-US" sz="6000" b="1" dirty="0">
                <a:solidFill>
                  <a:srgbClr val="FFFFFF"/>
                </a:solidFill>
                <a:latin typeface="Lato Bold"/>
                <a:ea typeface="Lato Bold"/>
                <a:cs typeface="Lato Bold"/>
                <a:sym typeface="Lato Bold"/>
              </a:rPr>
              <a:t>What did you know about your dataset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4" name="Freeform 4"/>
          <p:cNvSpPr/>
          <p:nvPr/>
        </p:nvSpPr>
        <p:spPr>
          <a:xfrm>
            <a:off x="4595784" y="942880"/>
            <a:ext cx="8020050" cy="4981575"/>
          </a:xfrm>
          <a:custGeom>
            <a:avLst/>
            <a:gdLst/>
            <a:ahLst/>
            <a:cxnLst/>
            <a:rect l="l" t="t" r="r" b="b"/>
            <a:pathLst>
              <a:path w="8020050" h="4981575">
                <a:moveTo>
                  <a:pt x="0" y="0"/>
                </a:moveTo>
                <a:lnTo>
                  <a:pt x="8020050" y="0"/>
                </a:lnTo>
                <a:lnTo>
                  <a:pt x="8020050" y="4981575"/>
                </a:lnTo>
                <a:lnTo>
                  <a:pt x="0" y="4981575"/>
                </a:lnTo>
                <a:lnTo>
                  <a:pt x="0" y="0"/>
                </a:lnTo>
                <a:close/>
              </a:path>
            </a:pathLst>
          </a:custGeom>
          <a:blipFill>
            <a:blip r:embed="rId5"/>
            <a:stretch>
              <a:fillRect/>
            </a:stretch>
          </a:blipFill>
        </p:spPr>
      </p:sp>
      <p:sp>
        <p:nvSpPr>
          <p:cNvPr id="6" name="TextBox 6"/>
          <p:cNvSpPr txBox="1"/>
          <p:nvPr/>
        </p:nvSpPr>
        <p:spPr>
          <a:xfrm>
            <a:off x="952500" y="-886"/>
            <a:ext cx="7063692" cy="624840"/>
          </a:xfrm>
          <a:prstGeom prst="rect">
            <a:avLst/>
          </a:prstGeom>
        </p:spPr>
        <p:txBody>
          <a:bodyPr lIns="0" tIns="0" rIns="0" bIns="0" rtlCol="0" anchor="t">
            <a:spAutoFit/>
          </a:bodyPr>
          <a:lstStyle/>
          <a:p>
            <a:pPr algn="l">
              <a:lnSpc>
                <a:spcPts val="5040"/>
              </a:lnSpc>
            </a:pPr>
            <a:r>
              <a:rPr lang="en-US" sz="3600" b="1" spc="28">
                <a:solidFill>
                  <a:srgbClr val="FFFFFF"/>
                </a:solidFill>
                <a:latin typeface="Lato Bold"/>
                <a:ea typeface="Lato Bold"/>
                <a:cs typeface="Lato Bold"/>
                <a:sym typeface="Lato Bold"/>
              </a:rPr>
              <a:t>Distribution of Freight Cost(USD)</a:t>
            </a:r>
          </a:p>
        </p:txBody>
      </p:sp>
      <p:sp>
        <p:nvSpPr>
          <p:cNvPr id="7" name="TextBox 7"/>
          <p:cNvSpPr txBox="1"/>
          <p:nvPr/>
        </p:nvSpPr>
        <p:spPr>
          <a:xfrm>
            <a:off x="1828800" y="6256900"/>
            <a:ext cx="14992121" cy="2539365"/>
          </a:xfrm>
          <a:prstGeom prst="rect">
            <a:avLst/>
          </a:prstGeom>
        </p:spPr>
        <p:txBody>
          <a:bodyPr lIns="0" tIns="0" rIns="0" bIns="0" rtlCol="0" anchor="t">
            <a:spAutoFit/>
          </a:bodyPr>
          <a:lstStyle/>
          <a:p>
            <a:pPr algn="just">
              <a:lnSpc>
                <a:spcPts val="3349"/>
              </a:lnSpc>
            </a:pPr>
            <a:r>
              <a:rPr lang="en-US" sz="2100" b="1" spc="58" dirty="0">
                <a:solidFill>
                  <a:srgbClr val="FFFFFF"/>
                </a:solidFill>
                <a:latin typeface="Lato Bold"/>
                <a:ea typeface="Lato Bold"/>
                <a:cs typeface="Lato Bold"/>
                <a:sym typeface="Lato Bold"/>
              </a:rPr>
              <a:t>The distribution of freight costs reveals a strong right skew, indicating that most shipments incur relatively low costs, typically under $30,000. However, a small number of shipments exhibit extremely high freight costs, reaching up to $290,000. These outliers significantly impact the overall cost structure and may point to inefficiencies or special handling requirements. Identifying the root causes of these high-cost shipments—such as mode of transport, distance, or urgency— could help optimize logistics operations. By focusing on these anomalies, the company has an opportunity to reduce overall freight expenses and improve supply chain efficiency without compromising delivery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4" name="Freeform 4"/>
          <p:cNvSpPr/>
          <p:nvPr/>
        </p:nvSpPr>
        <p:spPr>
          <a:xfrm>
            <a:off x="4445870" y="1185253"/>
            <a:ext cx="8229600" cy="5038725"/>
          </a:xfrm>
          <a:custGeom>
            <a:avLst/>
            <a:gdLst/>
            <a:ahLst/>
            <a:cxnLst/>
            <a:rect l="l" t="t" r="r" b="b"/>
            <a:pathLst>
              <a:path w="8229600" h="5038725">
                <a:moveTo>
                  <a:pt x="0" y="0"/>
                </a:moveTo>
                <a:lnTo>
                  <a:pt x="8229600" y="0"/>
                </a:lnTo>
                <a:lnTo>
                  <a:pt x="8229600" y="5038725"/>
                </a:lnTo>
                <a:lnTo>
                  <a:pt x="0" y="5038725"/>
                </a:lnTo>
                <a:lnTo>
                  <a:pt x="0" y="0"/>
                </a:lnTo>
                <a:close/>
              </a:path>
            </a:pathLst>
          </a:custGeom>
          <a:blipFill>
            <a:blip r:embed="rId5"/>
            <a:stretch>
              <a:fillRect/>
            </a:stretch>
          </a:blipFill>
        </p:spPr>
      </p:sp>
      <p:sp>
        <p:nvSpPr>
          <p:cNvPr id="6" name="TextBox 6"/>
          <p:cNvSpPr txBox="1"/>
          <p:nvPr/>
        </p:nvSpPr>
        <p:spPr>
          <a:xfrm>
            <a:off x="952500" y="-886"/>
            <a:ext cx="9879006" cy="624840"/>
          </a:xfrm>
          <a:prstGeom prst="rect">
            <a:avLst/>
          </a:prstGeom>
        </p:spPr>
        <p:txBody>
          <a:bodyPr lIns="0" tIns="0" rIns="0" bIns="0" rtlCol="0" anchor="t">
            <a:spAutoFit/>
          </a:bodyPr>
          <a:lstStyle/>
          <a:p>
            <a:pPr algn="l">
              <a:lnSpc>
                <a:spcPts val="5040"/>
              </a:lnSpc>
            </a:pPr>
            <a:r>
              <a:rPr lang="en-US" sz="3600" b="1" spc="32">
                <a:solidFill>
                  <a:srgbClr val="FFFFFF"/>
                </a:solidFill>
                <a:latin typeface="Lato Bold"/>
                <a:ea typeface="Lato Bold"/>
                <a:cs typeface="Lato Bold"/>
                <a:sym typeface="Lato Bold"/>
              </a:rPr>
              <a:t>Relationship between Weight and Freight Cost</a:t>
            </a:r>
          </a:p>
        </p:txBody>
      </p:sp>
      <p:sp>
        <p:nvSpPr>
          <p:cNvPr id="7" name="TextBox 7"/>
          <p:cNvSpPr txBox="1"/>
          <p:nvPr/>
        </p:nvSpPr>
        <p:spPr>
          <a:xfrm>
            <a:off x="1094870" y="6515100"/>
            <a:ext cx="16098260" cy="2110740"/>
          </a:xfrm>
          <a:prstGeom prst="rect">
            <a:avLst/>
          </a:prstGeom>
        </p:spPr>
        <p:txBody>
          <a:bodyPr lIns="0" tIns="0" rIns="0" bIns="0" rtlCol="0" anchor="t">
            <a:spAutoFit/>
          </a:bodyPr>
          <a:lstStyle/>
          <a:p>
            <a:pPr algn="just">
              <a:lnSpc>
                <a:spcPts val="3374"/>
              </a:lnSpc>
            </a:pPr>
            <a:r>
              <a:rPr lang="en-US" sz="2100" b="1" spc="23" dirty="0">
                <a:solidFill>
                  <a:srgbClr val="FFFFFF"/>
                </a:solidFill>
                <a:latin typeface="Lato Bold"/>
                <a:ea typeface="Lato Bold"/>
                <a:cs typeface="Lato Bold"/>
                <a:sym typeface="Lato Bold"/>
              </a:rPr>
              <a:t>The scatter plot reveals a weak positive relationship between shipment weight and freight cost. While heavier shipments generally cost more, there is </a:t>
            </a:r>
            <a:r>
              <a:rPr lang="en-US" sz="2100" b="1" spc="23" dirty="0" err="1">
                <a:solidFill>
                  <a:srgbClr val="FFFFFF"/>
                </a:solidFill>
                <a:latin typeface="Lato Bold"/>
                <a:ea typeface="Lato Bold"/>
                <a:cs typeface="Lato Bold"/>
                <a:sym typeface="Lato Bold"/>
              </a:rPr>
              <a:t>signi</a:t>
            </a:r>
            <a:r>
              <a:rPr lang="en-US" sz="2100" b="1" spc="23" dirty="0">
                <a:solidFill>
                  <a:srgbClr val="FFFFFF"/>
                </a:solidFill>
                <a:latin typeface="Lato Bold"/>
                <a:ea typeface="Lato Bold"/>
                <a:cs typeface="Lato Bold"/>
                <a:sym typeface="Lato Bold"/>
              </a:rPr>
              <a:t> cant variability in freight costs for similar weights, especially in the lower weight range. This suggests that factors other than weight, such as shipment urgency, destination, or mode of transport, play a major role in determining cost. A noticeable number of outliers also exist where low- or medium-weight shipments incur disproportionately high costs. These should be further analyzed to identify cost-saving opportunities and improve logistics </a:t>
            </a:r>
            <a:r>
              <a:rPr lang="en-US" sz="2100" b="1" spc="23" dirty="0" err="1">
                <a:solidFill>
                  <a:srgbClr val="FFFFFF"/>
                </a:solidFill>
                <a:latin typeface="Lato Bold"/>
                <a:ea typeface="Lato Bold"/>
                <a:cs typeface="Lato Bold"/>
                <a:sym typeface="Lato Bold"/>
              </a:rPr>
              <a:t>ef</a:t>
            </a:r>
            <a:r>
              <a:rPr lang="en-US" sz="2100" b="1" spc="23" dirty="0">
                <a:solidFill>
                  <a:srgbClr val="FFFFFF"/>
                </a:solidFill>
                <a:latin typeface="Lato Bold"/>
                <a:ea typeface="Lato Bold"/>
                <a:cs typeface="Lato Bold"/>
                <a:sym typeface="Lato Bold"/>
              </a:rPr>
              <a:t> </a:t>
            </a:r>
            <a:r>
              <a:rPr lang="en-US" sz="2100" b="1" spc="23" dirty="0" err="1">
                <a:solidFill>
                  <a:srgbClr val="FFFFFF"/>
                </a:solidFill>
                <a:latin typeface="Lato Bold"/>
                <a:ea typeface="Lato Bold"/>
                <a:cs typeface="Lato Bold"/>
                <a:sym typeface="Lato Bold"/>
              </a:rPr>
              <a:t>ciency</a:t>
            </a:r>
            <a:r>
              <a:rPr lang="en-US" sz="2100" b="1" spc="23" dirty="0">
                <a:solidFill>
                  <a:srgbClr val="FFFFFF"/>
                </a:solidFill>
                <a:latin typeface="Lato Bold"/>
                <a:ea typeface="Lato Bold"/>
                <a:cs typeface="Lato Bold"/>
                <a:sym typeface="Lato Bold"/>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6"/>
            <a:ext cx="18288000" cy="10286990"/>
          </a:xfrm>
          <a:custGeom>
            <a:avLst/>
            <a:gdLst/>
            <a:ahLst/>
            <a:cxnLst/>
            <a:rect l="l" t="t" r="r" b="b"/>
            <a:pathLst>
              <a:path w="18288000" h="10286990">
                <a:moveTo>
                  <a:pt x="0" y="0"/>
                </a:moveTo>
                <a:lnTo>
                  <a:pt x="18288000" y="0"/>
                </a:lnTo>
                <a:lnTo>
                  <a:pt x="18288000" y="10286991"/>
                </a:lnTo>
                <a:lnTo>
                  <a:pt x="0" y="10286991"/>
                </a:lnTo>
                <a:lnTo>
                  <a:pt x="0" y="0"/>
                </a:lnTo>
                <a:close/>
              </a:path>
            </a:pathLst>
          </a:custGeom>
          <a:blipFill>
            <a:blip r:embed="rId4"/>
            <a:stretch>
              <a:fillRect t="-85" b="-86"/>
            </a:stretch>
          </a:blipFill>
        </p:spPr>
      </p:sp>
      <p:sp>
        <p:nvSpPr>
          <p:cNvPr id="4" name="Freeform 4"/>
          <p:cNvSpPr/>
          <p:nvPr/>
        </p:nvSpPr>
        <p:spPr>
          <a:xfrm>
            <a:off x="4999653" y="1142676"/>
            <a:ext cx="6934200" cy="4752975"/>
          </a:xfrm>
          <a:custGeom>
            <a:avLst/>
            <a:gdLst/>
            <a:ahLst/>
            <a:cxnLst/>
            <a:rect l="l" t="t" r="r" b="b"/>
            <a:pathLst>
              <a:path w="6934200" h="4752975">
                <a:moveTo>
                  <a:pt x="0" y="0"/>
                </a:moveTo>
                <a:lnTo>
                  <a:pt x="6934200" y="0"/>
                </a:lnTo>
                <a:lnTo>
                  <a:pt x="6934200" y="4752975"/>
                </a:lnTo>
                <a:lnTo>
                  <a:pt x="0" y="4752975"/>
                </a:lnTo>
                <a:lnTo>
                  <a:pt x="0" y="0"/>
                </a:lnTo>
                <a:close/>
              </a:path>
            </a:pathLst>
          </a:custGeom>
          <a:blipFill>
            <a:blip r:embed="rId5"/>
            <a:stretch>
              <a:fillRect/>
            </a:stretch>
          </a:blipFill>
        </p:spPr>
      </p:sp>
      <p:sp>
        <p:nvSpPr>
          <p:cNvPr id="6" name="TextBox 6"/>
          <p:cNvSpPr txBox="1"/>
          <p:nvPr/>
        </p:nvSpPr>
        <p:spPr>
          <a:xfrm>
            <a:off x="952500" y="-886"/>
            <a:ext cx="6722564" cy="624840"/>
          </a:xfrm>
          <a:prstGeom prst="rect">
            <a:avLst/>
          </a:prstGeom>
        </p:spPr>
        <p:txBody>
          <a:bodyPr lIns="0" tIns="0" rIns="0" bIns="0" rtlCol="0" anchor="t">
            <a:spAutoFit/>
          </a:bodyPr>
          <a:lstStyle/>
          <a:p>
            <a:pPr algn="l">
              <a:lnSpc>
                <a:spcPts val="5040"/>
              </a:lnSpc>
            </a:pPr>
            <a:r>
              <a:rPr lang="en-US" sz="3600" b="1" spc="32">
                <a:solidFill>
                  <a:srgbClr val="FFFFFF"/>
                </a:solidFill>
                <a:latin typeface="Lato Bold"/>
                <a:ea typeface="Lato Bold"/>
                <a:cs typeface="Lato Bold"/>
                <a:sym typeface="Lato Bold"/>
              </a:rPr>
              <a:t>Shipment Mode vs. Freight Cost</a:t>
            </a:r>
          </a:p>
        </p:txBody>
      </p:sp>
      <p:sp>
        <p:nvSpPr>
          <p:cNvPr id="7" name="TextBox 7"/>
          <p:cNvSpPr txBox="1"/>
          <p:nvPr/>
        </p:nvSpPr>
        <p:spPr>
          <a:xfrm>
            <a:off x="952501" y="6121937"/>
            <a:ext cx="16268700" cy="2110740"/>
          </a:xfrm>
          <a:prstGeom prst="rect">
            <a:avLst/>
          </a:prstGeom>
        </p:spPr>
        <p:txBody>
          <a:bodyPr wrap="square" lIns="0" tIns="0" rIns="0" bIns="0" rtlCol="0" anchor="t">
            <a:spAutoFit/>
          </a:bodyPr>
          <a:lstStyle/>
          <a:p>
            <a:pPr algn="just">
              <a:lnSpc>
                <a:spcPts val="3374"/>
              </a:lnSpc>
            </a:pPr>
            <a:r>
              <a:rPr lang="en-US" sz="2100" b="1" spc="4" dirty="0">
                <a:solidFill>
                  <a:srgbClr val="FFFFFF"/>
                </a:solidFill>
                <a:latin typeface="Lato Bold"/>
                <a:ea typeface="Lato Bold"/>
                <a:cs typeface="Lato Bold"/>
                <a:sym typeface="Lato Bold"/>
              </a:rPr>
              <a:t>The analysis shows that Air Charter has the highest average freight cost among all shipment modes, </a:t>
            </a:r>
            <a:r>
              <a:rPr lang="en-US" sz="2100" b="1" spc="4" dirty="0" err="1">
                <a:solidFill>
                  <a:srgbClr val="FFFFFF"/>
                </a:solidFill>
                <a:latin typeface="Lato Bold"/>
                <a:ea typeface="Lato Bold"/>
                <a:cs typeface="Lato Bold"/>
                <a:sym typeface="Lato Bold"/>
              </a:rPr>
              <a:t>signi</a:t>
            </a:r>
            <a:r>
              <a:rPr lang="en-US" sz="2100" b="1" spc="4" dirty="0">
                <a:solidFill>
                  <a:srgbClr val="FFFFFF"/>
                </a:solidFill>
                <a:latin typeface="Lato Bold"/>
                <a:ea typeface="Lato Bold"/>
                <a:cs typeface="Lato Bold"/>
                <a:sym typeface="Lato Bold"/>
              </a:rPr>
              <a:t> </a:t>
            </a:r>
            <a:r>
              <a:rPr lang="en-US" sz="2100" b="1" spc="4" dirty="0" err="1">
                <a:solidFill>
                  <a:srgbClr val="FFFFFF"/>
                </a:solidFill>
                <a:latin typeface="Lato Bold"/>
                <a:ea typeface="Lato Bold"/>
                <a:cs typeface="Lato Bold"/>
                <a:sym typeface="Lato Bold"/>
              </a:rPr>
              <a:t>cantly</a:t>
            </a:r>
            <a:r>
              <a:rPr lang="en-US" sz="2100" b="1" spc="4" dirty="0">
                <a:solidFill>
                  <a:srgbClr val="FFFFFF"/>
                </a:solidFill>
                <a:latin typeface="Lato Bold"/>
                <a:ea typeface="Lato Bold"/>
                <a:cs typeface="Lato Bold"/>
                <a:sym typeface="Lato Bold"/>
              </a:rPr>
              <a:t> surpassing Air, Truck, and Ocean. This mode is typically used for urgent or high-value shipments, justifying the premium price. In contrast, Air and Truck shipments have similar average costs, while Ocean freight, although slower, tends to be more economical for large and non-urgent shipments. These  </a:t>
            </a:r>
            <a:r>
              <a:rPr lang="en-US" sz="2100" b="1" spc="4" dirty="0" err="1">
                <a:solidFill>
                  <a:srgbClr val="FFFFFF"/>
                </a:solidFill>
                <a:latin typeface="Lato Bold"/>
                <a:ea typeface="Lato Bold"/>
                <a:cs typeface="Lato Bold"/>
                <a:sym typeface="Lato Bold"/>
              </a:rPr>
              <a:t>ndings</a:t>
            </a:r>
            <a:r>
              <a:rPr lang="en-US" sz="2100" b="1" spc="4" dirty="0">
                <a:solidFill>
                  <a:srgbClr val="FFFFFF"/>
                </a:solidFill>
                <a:latin typeface="Lato Bold"/>
                <a:ea typeface="Lato Bold"/>
                <a:cs typeface="Lato Bold"/>
                <a:sym typeface="Lato Bold"/>
              </a:rPr>
              <a:t> highlight an opportunity to optimize shipment mode selection based on urgency, cost, and shipment characteristics, potentially reducing logistics expenses without compromising service quality.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6"/>
            <a:ext cx="18288000" cy="10286990"/>
          </a:xfrm>
          <a:custGeom>
            <a:avLst/>
            <a:gdLst/>
            <a:ahLst/>
            <a:cxnLst/>
            <a:rect l="l" t="t" r="r" b="b"/>
            <a:pathLst>
              <a:path w="18288000" h="10286990">
                <a:moveTo>
                  <a:pt x="0" y="0"/>
                </a:moveTo>
                <a:lnTo>
                  <a:pt x="18288000" y="0"/>
                </a:lnTo>
                <a:lnTo>
                  <a:pt x="18288000" y="10286991"/>
                </a:lnTo>
                <a:lnTo>
                  <a:pt x="0" y="10286991"/>
                </a:lnTo>
                <a:lnTo>
                  <a:pt x="0" y="0"/>
                </a:lnTo>
                <a:close/>
              </a:path>
            </a:pathLst>
          </a:custGeom>
          <a:blipFill>
            <a:blip r:embed="rId4"/>
            <a:stretch>
              <a:fillRect t="-85" b="-86"/>
            </a:stretch>
          </a:blipFill>
        </p:spPr>
      </p:sp>
      <p:sp>
        <p:nvSpPr>
          <p:cNvPr id="4" name="Freeform 4"/>
          <p:cNvSpPr/>
          <p:nvPr/>
        </p:nvSpPr>
        <p:spPr>
          <a:xfrm>
            <a:off x="5444099" y="942365"/>
            <a:ext cx="7410450" cy="4829175"/>
          </a:xfrm>
          <a:custGeom>
            <a:avLst/>
            <a:gdLst/>
            <a:ahLst/>
            <a:cxnLst/>
            <a:rect l="l" t="t" r="r" b="b"/>
            <a:pathLst>
              <a:path w="7410450" h="4829175">
                <a:moveTo>
                  <a:pt x="0" y="0"/>
                </a:moveTo>
                <a:lnTo>
                  <a:pt x="7410450" y="0"/>
                </a:lnTo>
                <a:lnTo>
                  <a:pt x="7410450" y="4829175"/>
                </a:lnTo>
                <a:lnTo>
                  <a:pt x="0" y="4829175"/>
                </a:lnTo>
                <a:lnTo>
                  <a:pt x="0" y="0"/>
                </a:lnTo>
                <a:close/>
              </a:path>
            </a:pathLst>
          </a:custGeom>
          <a:blipFill>
            <a:blip r:embed="rId5"/>
            <a:stretch>
              <a:fillRect/>
            </a:stretch>
          </a:blipFill>
        </p:spPr>
      </p:sp>
      <p:sp>
        <p:nvSpPr>
          <p:cNvPr id="6" name="TextBox 6"/>
          <p:cNvSpPr txBox="1"/>
          <p:nvPr/>
        </p:nvSpPr>
        <p:spPr>
          <a:xfrm>
            <a:off x="952500" y="-886"/>
            <a:ext cx="8042081" cy="624840"/>
          </a:xfrm>
          <a:prstGeom prst="rect">
            <a:avLst/>
          </a:prstGeom>
        </p:spPr>
        <p:txBody>
          <a:bodyPr lIns="0" tIns="0" rIns="0" bIns="0" rtlCol="0" anchor="t">
            <a:spAutoFit/>
          </a:bodyPr>
          <a:lstStyle/>
          <a:p>
            <a:pPr algn="l">
              <a:lnSpc>
                <a:spcPts val="5040"/>
              </a:lnSpc>
            </a:pPr>
            <a:r>
              <a:rPr lang="en-US" sz="3600" b="1" spc="28">
                <a:solidFill>
                  <a:srgbClr val="FFFFFF"/>
                </a:solidFill>
                <a:latin typeface="Lato Bold"/>
                <a:ea typeface="Lato Bold"/>
                <a:cs typeface="Lato Bold"/>
                <a:sym typeface="Lato Bold"/>
              </a:rPr>
              <a:t>Line Item Quantity vs. Line Item Value</a:t>
            </a:r>
          </a:p>
        </p:txBody>
      </p:sp>
      <p:sp>
        <p:nvSpPr>
          <p:cNvPr id="7" name="TextBox 7"/>
          <p:cNvSpPr txBox="1"/>
          <p:nvPr/>
        </p:nvSpPr>
        <p:spPr>
          <a:xfrm>
            <a:off x="1551871" y="6230922"/>
            <a:ext cx="15516930" cy="2110740"/>
          </a:xfrm>
          <a:prstGeom prst="rect">
            <a:avLst/>
          </a:prstGeom>
        </p:spPr>
        <p:txBody>
          <a:bodyPr wrap="square" lIns="0" tIns="0" rIns="0" bIns="0" rtlCol="0" anchor="t">
            <a:spAutoFit/>
          </a:bodyPr>
          <a:lstStyle/>
          <a:p>
            <a:pPr algn="just">
              <a:lnSpc>
                <a:spcPts val="3374"/>
              </a:lnSpc>
            </a:pPr>
            <a:r>
              <a:rPr lang="en-US" sz="2100" b="1" spc="8" dirty="0">
                <a:solidFill>
                  <a:srgbClr val="FFFFFF"/>
                </a:solidFill>
                <a:latin typeface="Lato Bold"/>
                <a:ea typeface="Lato Bold"/>
                <a:cs typeface="Lato Bold"/>
                <a:sym typeface="Lato Bold"/>
              </a:rPr>
              <a:t>This scatter plot reveals a strong positive correlation between line item quantity and line item value, indicating that as the number of items increases, the total value also tends to rise. The data points form a consistent upward trend, although some outliers exist with high values despite relatively low quantities, which could be attributed to high-value items. This insight suggests that volume plays a critical role in overall shipment value, and monitoring these relationships can help in forecasting revenue and identifying pricing anomalies or high-margin products for strategic planning and inventory control.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4" name="Freeform 4"/>
          <p:cNvSpPr/>
          <p:nvPr/>
        </p:nvSpPr>
        <p:spPr>
          <a:xfrm>
            <a:off x="3702225" y="1079792"/>
            <a:ext cx="11591925" cy="4276725"/>
          </a:xfrm>
          <a:custGeom>
            <a:avLst/>
            <a:gdLst/>
            <a:ahLst/>
            <a:cxnLst/>
            <a:rect l="l" t="t" r="r" b="b"/>
            <a:pathLst>
              <a:path w="11591925" h="4276725">
                <a:moveTo>
                  <a:pt x="0" y="0"/>
                </a:moveTo>
                <a:lnTo>
                  <a:pt x="11591925" y="0"/>
                </a:lnTo>
                <a:lnTo>
                  <a:pt x="11591925" y="4276725"/>
                </a:lnTo>
                <a:lnTo>
                  <a:pt x="0" y="4276725"/>
                </a:lnTo>
                <a:lnTo>
                  <a:pt x="0" y="0"/>
                </a:lnTo>
                <a:close/>
              </a:path>
            </a:pathLst>
          </a:custGeom>
          <a:blipFill>
            <a:blip r:embed="rId5"/>
            <a:stretch>
              <a:fillRect l="-2686" t="-157" r="-2654" b="-65"/>
            </a:stretch>
          </a:blipFill>
        </p:spPr>
      </p:sp>
      <p:sp>
        <p:nvSpPr>
          <p:cNvPr id="6" name="TextBox 6"/>
          <p:cNvSpPr txBox="1"/>
          <p:nvPr/>
        </p:nvSpPr>
        <p:spPr>
          <a:xfrm>
            <a:off x="952500" y="-886"/>
            <a:ext cx="6719068" cy="624840"/>
          </a:xfrm>
          <a:prstGeom prst="rect">
            <a:avLst/>
          </a:prstGeom>
        </p:spPr>
        <p:txBody>
          <a:bodyPr lIns="0" tIns="0" rIns="0" bIns="0" rtlCol="0" anchor="t">
            <a:spAutoFit/>
          </a:bodyPr>
          <a:lstStyle/>
          <a:p>
            <a:pPr algn="l">
              <a:lnSpc>
                <a:spcPts val="5040"/>
              </a:lnSpc>
            </a:pPr>
            <a:r>
              <a:rPr lang="en-US" sz="3600" b="1" spc="7">
                <a:solidFill>
                  <a:srgbClr val="FFFFFF"/>
                </a:solidFill>
                <a:latin typeface="Lato Bold"/>
                <a:ea typeface="Lato Bold"/>
                <a:cs typeface="Lato Bold"/>
                <a:sym typeface="Lato Bold"/>
              </a:rPr>
              <a:t>Total Line Item Value by Vendor</a:t>
            </a:r>
          </a:p>
        </p:txBody>
      </p:sp>
      <p:sp>
        <p:nvSpPr>
          <p:cNvPr id="7" name="TextBox 7"/>
          <p:cNvSpPr txBox="1"/>
          <p:nvPr/>
        </p:nvSpPr>
        <p:spPr>
          <a:xfrm>
            <a:off x="1160583" y="5981700"/>
            <a:ext cx="15966834" cy="2539365"/>
          </a:xfrm>
          <a:prstGeom prst="rect">
            <a:avLst/>
          </a:prstGeom>
        </p:spPr>
        <p:txBody>
          <a:bodyPr lIns="0" tIns="0" rIns="0" bIns="0" rtlCol="0" anchor="t">
            <a:spAutoFit/>
          </a:bodyPr>
          <a:lstStyle/>
          <a:p>
            <a:pPr algn="just">
              <a:lnSpc>
                <a:spcPts val="3349"/>
              </a:lnSpc>
            </a:pPr>
            <a:r>
              <a:rPr lang="en-US" sz="2100" b="1" spc="37" dirty="0">
                <a:solidFill>
                  <a:srgbClr val="FFFFFF"/>
                </a:solidFill>
                <a:latin typeface="Lato Bold"/>
                <a:ea typeface="Lato Bold"/>
                <a:cs typeface="Lato Bold"/>
                <a:sym typeface="Lato Bold"/>
              </a:rPr>
              <a:t>The chart highlights the top vendors based on total line item value. SCMS from RDC overwhelmingly leads, contributing over $1 billion, </a:t>
            </a:r>
            <a:r>
              <a:rPr lang="en-US" sz="2100" b="1" spc="37" dirty="0" err="1">
                <a:solidFill>
                  <a:srgbClr val="FFFFFF"/>
                </a:solidFill>
                <a:latin typeface="Lato Bold"/>
                <a:ea typeface="Lato Bold"/>
                <a:cs typeface="Lato Bold"/>
                <a:sym typeface="Lato Bold"/>
              </a:rPr>
              <a:t>signi</a:t>
            </a:r>
            <a:r>
              <a:rPr lang="en-US" sz="2100" b="1" spc="37" dirty="0">
                <a:solidFill>
                  <a:srgbClr val="FFFFFF"/>
                </a:solidFill>
                <a:latin typeface="Lato Bold"/>
                <a:ea typeface="Lato Bold"/>
                <a:cs typeface="Lato Bold"/>
                <a:sym typeface="Lato Bold"/>
              </a:rPr>
              <a:t> </a:t>
            </a:r>
            <a:r>
              <a:rPr lang="en-US" sz="2100" b="1" spc="37" dirty="0" err="1">
                <a:solidFill>
                  <a:srgbClr val="FFFFFF"/>
                </a:solidFill>
                <a:latin typeface="Lato Bold"/>
                <a:ea typeface="Lato Bold"/>
                <a:cs typeface="Lato Bold"/>
                <a:sym typeface="Lato Bold"/>
              </a:rPr>
              <a:t>cantly</a:t>
            </a:r>
            <a:r>
              <a:rPr lang="en-US" sz="2100" b="1" spc="37" dirty="0">
                <a:solidFill>
                  <a:srgbClr val="FFFFFF"/>
                </a:solidFill>
                <a:latin typeface="Lato Bold"/>
                <a:ea typeface="Lato Bold"/>
                <a:cs typeface="Lato Bold"/>
                <a:sym typeface="Lato Bold"/>
              </a:rPr>
              <a:t> outpacing all other suppliers. This dominance suggests a heavy reliance on SCMS, which could pose supply chain risks if not </a:t>
            </a:r>
            <a:r>
              <a:rPr lang="en-US" sz="2100" b="1" spc="37" dirty="0" err="1">
                <a:solidFill>
                  <a:srgbClr val="FFFFFF"/>
                </a:solidFill>
                <a:latin typeface="Lato Bold"/>
                <a:ea typeface="Lato Bold"/>
                <a:cs typeface="Lato Bold"/>
                <a:sym typeface="Lato Bold"/>
              </a:rPr>
              <a:t>diversi</a:t>
            </a:r>
            <a:r>
              <a:rPr lang="en-US" sz="2100" b="1" spc="37" dirty="0">
                <a:solidFill>
                  <a:srgbClr val="FFFFFF"/>
                </a:solidFill>
                <a:latin typeface="Lato Bold"/>
                <a:ea typeface="Lato Bold"/>
                <a:cs typeface="Lato Bold"/>
                <a:sym typeface="Lato Bold"/>
              </a:rPr>
              <a:t> ed. Other notable vendors like Organics Ltd. and Aurobindo Pharma show moderate contributions, while the remaining vendors contribute relatively smaller shares. The data emphasizes the importance of vendor performance monitoring and may prompt strategic evaluations to balance supply volume, manage risks, and enhance procurement </a:t>
            </a:r>
            <a:r>
              <a:rPr lang="en-US" sz="2100" b="1" spc="37" dirty="0" err="1">
                <a:solidFill>
                  <a:srgbClr val="FFFFFF"/>
                </a:solidFill>
                <a:latin typeface="Lato Bold"/>
                <a:ea typeface="Lato Bold"/>
                <a:cs typeface="Lato Bold"/>
                <a:sym typeface="Lato Bold"/>
              </a:rPr>
              <a:t>ef</a:t>
            </a:r>
            <a:r>
              <a:rPr lang="en-US" sz="2100" b="1" spc="37" dirty="0">
                <a:solidFill>
                  <a:srgbClr val="FFFFFF"/>
                </a:solidFill>
                <a:latin typeface="Lato Bold"/>
                <a:ea typeface="Lato Bold"/>
                <a:cs typeface="Lato Bold"/>
                <a:sym typeface="Lato Bold"/>
              </a:rPr>
              <a:t> </a:t>
            </a:r>
            <a:r>
              <a:rPr lang="en-US" sz="2100" b="1" spc="37" dirty="0" err="1">
                <a:solidFill>
                  <a:srgbClr val="FFFFFF"/>
                </a:solidFill>
                <a:latin typeface="Lato Bold"/>
                <a:ea typeface="Lato Bold"/>
                <a:cs typeface="Lato Bold"/>
                <a:sym typeface="Lato Bold"/>
              </a:rPr>
              <a:t>ciency</a:t>
            </a:r>
            <a:r>
              <a:rPr lang="en-US" sz="2100" b="1" spc="37" dirty="0">
                <a:solidFill>
                  <a:srgbClr val="FFFFFF"/>
                </a:solidFill>
                <a:latin typeface="Lato Bold"/>
                <a:ea typeface="Lato Bold"/>
                <a:cs typeface="Lato Bold"/>
                <a:sym typeface="Lato Bold"/>
              </a:rPr>
              <a:t> through more </a:t>
            </a:r>
            <a:r>
              <a:rPr lang="en-US" sz="2100" b="1" spc="37" dirty="0" err="1">
                <a:solidFill>
                  <a:srgbClr val="FFFFFF"/>
                </a:solidFill>
                <a:latin typeface="Lato Bold"/>
                <a:ea typeface="Lato Bold"/>
                <a:cs typeface="Lato Bold"/>
                <a:sym typeface="Lato Bold"/>
              </a:rPr>
              <a:t>diversi</a:t>
            </a:r>
            <a:r>
              <a:rPr lang="en-US" sz="2100" b="1" spc="37" dirty="0">
                <a:solidFill>
                  <a:srgbClr val="FFFFFF"/>
                </a:solidFill>
                <a:latin typeface="Lato Bold"/>
                <a:ea typeface="Lato Bold"/>
                <a:cs typeface="Lato Bold"/>
                <a:sym typeface="Lato Bold"/>
              </a:rPr>
              <a:t> ed sourcing.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4" name="Freeform 4"/>
          <p:cNvSpPr/>
          <p:nvPr/>
        </p:nvSpPr>
        <p:spPr>
          <a:xfrm>
            <a:off x="5904538" y="779421"/>
            <a:ext cx="7305675" cy="4829175"/>
          </a:xfrm>
          <a:custGeom>
            <a:avLst/>
            <a:gdLst/>
            <a:ahLst/>
            <a:cxnLst/>
            <a:rect l="l" t="t" r="r" b="b"/>
            <a:pathLst>
              <a:path w="7305675" h="4829175">
                <a:moveTo>
                  <a:pt x="0" y="0"/>
                </a:moveTo>
                <a:lnTo>
                  <a:pt x="7305675" y="0"/>
                </a:lnTo>
                <a:lnTo>
                  <a:pt x="7305675" y="4829175"/>
                </a:lnTo>
                <a:lnTo>
                  <a:pt x="0" y="4829175"/>
                </a:lnTo>
                <a:lnTo>
                  <a:pt x="0" y="0"/>
                </a:lnTo>
                <a:close/>
              </a:path>
            </a:pathLst>
          </a:custGeom>
          <a:blipFill>
            <a:blip r:embed="rId5"/>
            <a:stretch>
              <a:fillRect/>
            </a:stretch>
          </a:blipFill>
        </p:spPr>
      </p:sp>
      <p:sp>
        <p:nvSpPr>
          <p:cNvPr id="6" name="TextBox 6"/>
          <p:cNvSpPr txBox="1"/>
          <p:nvPr/>
        </p:nvSpPr>
        <p:spPr>
          <a:xfrm>
            <a:off x="952500" y="-886"/>
            <a:ext cx="8872642" cy="624840"/>
          </a:xfrm>
          <a:prstGeom prst="rect">
            <a:avLst/>
          </a:prstGeom>
        </p:spPr>
        <p:txBody>
          <a:bodyPr lIns="0" tIns="0" rIns="0" bIns="0" rtlCol="0" anchor="t">
            <a:spAutoFit/>
          </a:bodyPr>
          <a:lstStyle/>
          <a:p>
            <a:pPr algn="l">
              <a:lnSpc>
                <a:spcPts val="5040"/>
              </a:lnSpc>
            </a:pPr>
            <a:r>
              <a:rPr lang="en-US" sz="3600" b="1" spc="32">
                <a:solidFill>
                  <a:srgbClr val="FFFFFF"/>
                </a:solidFill>
                <a:latin typeface="Lato Bold"/>
                <a:ea typeface="Lato Bold"/>
                <a:cs typeface="Lato Bold"/>
                <a:sym typeface="Lato Bold"/>
              </a:rPr>
              <a:t>Delivery Time vs Scheduled Delivery Date</a:t>
            </a:r>
          </a:p>
        </p:txBody>
      </p:sp>
      <p:sp>
        <p:nvSpPr>
          <p:cNvPr id="7" name="TextBox 7"/>
          <p:cNvSpPr txBox="1"/>
          <p:nvPr/>
        </p:nvSpPr>
        <p:spPr>
          <a:xfrm>
            <a:off x="1406567" y="6158265"/>
            <a:ext cx="15814634" cy="2539365"/>
          </a:xfrm>
          <a:prstGeom prst="rect">
            <a:avLst/>
          </a:prstGeom>
        </p:spPr>
        <p:txBody>
          <a:bodyPr wrap="square" lIns="0" tIns="0" rIns="0" bIns="0" rtlCol="0" anchor="t">
            <a:spAutoFit/>
          </a:bodyPr>
          <a:lstStyle/>
          <a:p>
            <a:pPr algn="just">
              <a:lnSpc>
                <a:spcPts val="3349"/>
              </a:lnSpc>
            </a:pPr>
            <a:r>
              <a:rPr lang="en-US" sz="2100" b="1" spc="54" dirty="0">
                <a:solidFill>
                  <a:srgbClr val="FFFFFF"/>
                </a:solidFill>
                <a:latin typeface="Lato Bold"/>
                <a:ea typeface="Lato Bold"/>
                <a:cs typeface="Lato Bold"/>
                <a:sym typeface="Lato Bold"/>
              </a:rPr>
              <a:t>This chart shows delivery time trends from 2006 to 2016. While most deliveries occur within 30 days, there are notable spikes, particularly between 2010 and 2014, where delivery times occasionally exceeded 100 days. These delays may indicate disruptions such as logistical challenges, supplier </a:t>
            </a:r>
            <a:r>
              <a:rPr lang="en-US" sz="2100" b="1" spc="54" dirty="0" err="1">
                <a:solidFill>
                  <a:srgbClr val="FFFFFF"/>
                </a:solidFill>
                <a:latin typeface="Lato Bold"/>
                <a:ea typeface="Lato Bold"/>
                <a:cs typeface="Lato Bold"/>
                <a:sym typeface="Lato Bold"/>
              </a:rPr>
              <a:t>inef</a:t>
            </a:r>
            <a:r>
              <a:rPr lang="en-US" sz="2100" b="1" spc="54" dirty="0">
                <a:solidFill>
                  <a:srgbClr val="FFFFFF"/>
                </a:solidFill>
                <a:latin typeface="Lato Bold"/>
                <a:ea typeface="Lato Bold"/>
                <a:cs typeface="Lato Bold"/>
                <a:sym typeface="Lato Bold"/>
              </a:rPr>
              <a:t> </a:t>
            </a:r>
            <a:r>
              <a:rPr lang="en-US" sz="2100" b="1" spc="54" dirty="0" err="1">
                <a:solidFill>
                  <a:srgbClr val="FFFFFF"/>
                </a:solidFill>
                <a:latin typeface="Lato Bold"/>
                <a:ea typeface="Lato Bold"/>
                <a:cs typeface="Lato Bold"/>
                <a:sym typeface="Lato Bold"/>
              </a:rPr>
              <a:t>ciencies</a:t>
            </a:r>
            <a:r>
              <a:rPr lang="en-US" sz="2100" b="1" spc="54" dirty="0">
                <a:solidFill>
                  <a:srgbClr val="FFFFFF"/>
                </a:solidFill>
                <a:latin typeface="Lato Bold"/>
                <a:ea typeface="Lato Bold"/>
                <a:cs typeface="Lato Bold"/>
                <a:sym typeface="Lato Bold"/>
              </a:rPr>
              <a:t>, or geopolitical factors. After 2014, a decline in extreme delays suggests improved supply chain performance. Monitoring delivery time over time is crucial for identifying </a:t>
            </a:r>
            <a:r>
              <a:rPr lang="en-US" sz="2100" b="1" spc="54" dirty="0" err="1">
                <a:solidFill>
                  <a:srgbClr val="FFFFFF"/>
                </a:solidFill>
                <a:latin typeface="Lato Bold"/>
                <a:ea typeface="Lato Bold"/>
                <a:cs typeface="Lato Bold"/>
                <a:sym typeface="Lato Bold"/>
              </a:rPr>
              <a:t>inef</a:t>
            </a:r>
            <a:r>
              <a:rPr lang="en-US" sz="2100" b="1" spc="54" dirty="0">
                <a:solidFill>
                  <a:srgbClr val="FFFFFF"/>
                </a:solidFill>
                <a:latin typeface="Lato Bold"/>
                <a:ea typeface="Lato Bold"/>
                <a:cs typeface="Lato Bold"/>
                <a:sym typeface="Lato Bold"/>
              </a:rPr>
              <a:t> </a:t>
            </a:r>
            <a:r>
              <a:rPr lang="en-US" sz="2100" b="1" spc="54" dirty="0" err="1">
                <a:solidFill>
                  <a:srgbClr val="FFFFFF"/>
                </a:solidFill>
                <a:latin typeface="Lato Bold"/>
                <a:ea typeface="Lato Bold"/>
                <a:cs typeface="Lato Bold"/>
                <a:sym typeface="Lato Bold"/>
              </a:rPr>
              <a:t>ciencies</a:t>
            </a:r>
            <a:r>
              <a:rPr lang="en-US" sz="2100" b="1" spc="54" dirty="0">
                <a:solidFill>
                  <a:srgbClr val="FFFFFF"/>
                </a:solidFill>
                <a:latin typeface="Lato Bold"/>
                <a:ea typeface="Lato Bold"/>
                <a:cs typeface="Lato Bold"/>
                <a:sym typeface="Lato Bold"/>
              </a:rPr>
              <a:t>, evaluating vendor reliability, and improving service levels. Continuous improvement in logistics and planning can help stabilize delivery times and reduce costly delays.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4" name="Freeform 4"/>
          <p:cNvSpPr/>
          <p:nvPr/>
        </p:nvSpPr>
        <p:spPr>
          <a:xfrm>
            <a:off x="4990338" y="761257"/>
            <a:ext cx="7524750" cy="5505450"/>
          </a:xfrm>
          <a:custGeom>
            <a:avLst/>
            <a:gdLst/>
            <a:ahLst/>
            <a:cxnLst/>
            <a:rect l="l" t="t" r="r" b="b"/>
            <a:pathLst>
              <a:path w="7524750" h="5505450">
                <a:moveTo>
                  <a:pt x="0" y="0"/>
                </a:moveTo>
                <a:lnTo>
                  <a:pt x="7524750" y="0"/>
                </a:lnTo>
                <a:lnTo>
                  <a:pt x="7524750" y="5505450"/>
                </a:lnTo>
                <a:lnTo>
                  <a:pt x="0" y="5505450"/>
                </a:lnTo>
                <a:lnTo>
                  <a:pt x="0" y="0"/>
                </a:lnTo>
                <a:close/>
              </a:path>
            </a:pathLst>
          </a:custGeom>
          <a:blipFill>
            <a:blip r:embed="rId5"/>
            <a:stretch>
              <a:fillRect/>
            </a:stretch>
          </a:blipFill>
        </p:spPr>
      </p:sp>
      <p:sp>
        <p:nvSpPr>
          <p:cNvPr id="6" name="TextBox 6"/>
          <p:cNvSpPr txBox="1"/>
          <p:nvPr/>
        </p:nvSpPr>
        <p:spPr>
          <a:xfrm>
            <a:off x="952500" y="-886"/>
            <a:ext cx="6995608" cy="624840"/>
          </a:xfrm>
          <a:prstGeom prst="rect">
            <a:avLst/>
          </a:prstGeom>
        </p:spPr>
        <p:txBody>
          <a:bodyPr lIns="0" tIns="0" rIns="0" bIns="0" rtlCol="0" anchor="t">
            <a:spAutoFit/>
          </a:bodyPr>
          <a:lstStyle/>
          <a:p>
            <a:pPr algn="l">
              <a:lnSpc>
                <a:spcPts val="5040"/>
              </a:lnSpc>
            </a:pPr>
            <a:r>
              <a:rPr lang="en-US" sz="3600" b="1" spc="14">
                <a:solidFill>
                  <a:srgbClr val="FFFFFF"/>
                </a:solidFill>
                <a:latin typeface="Lato Bold"/>
                <a:ea typeface="Lato Bold"/>
                <a:cs typeface="Lato Bold"/>
                <a:sym typeface="Lato Bold"/>
              </a:rPr>
              <a:t>Top 10 Brands by Line Item Value</a:t>
            </a:r>
          </a:p>
        </p:txBody>
      </p:sp>
      <p:sp>
        <p:nvSpPr>
          <p:cNvPr id="7" name="TextBox 7"/>
          <p:cNvSpPr txBox="1"/>
          <p:nvPr/>
        </p:nvSpPr>
        <p:spPr>
          <a:xfrm>
            <a:off x="1479223" y="6230912"/>
            <a:ext cx="15589577" cy="2539365"/>
          </a:xfrm>
          <a:prstGeom prst="rect">
            <a:avLst/>
          </a:prstGeom>
        </p:spPr>
        <p:txBody>
          <a:bodyPr wrap="square" lIns="0" tIns="0" rIns="0" bIns="0" rtlCol="0" anchor="t">
            <a:spAutoFit/>
          </a:bodyPr>
          <a:lstStyle/>
          <a:p>
            <a:pPr algn="just">
              <a:lnSpc>
                <a:spcPts val="3349"/>
              </a:lnSpc>
            </a:pPr>
            <a:r>
              <a:rPr lang="en-US" sz="2100" b="1" spc="18" dirty="0">
                <a:solidFill>
                  <a:srgbClr val="FFFFFF"/>
                </a:solidFill>
                <a:latin typeface="Lato Bold"/>
                <a:ea typeface="Lato Bold"/>
                <a:cs typeface="Lato Bold"/>
                <a:sym typeface="Lato Bold"/>
              </a:rPr>
              <a:t>The data reveals that Generic products dominate procurement, contributing over $700 million in line item value—</a:t>
            </a:r>
            <a:r>
              <a:rPr lang="en-US" sz="2100" b="1" spc="18" dirty="0" err="1">
                <a:solidFill>
                  <a:srgbClr val="FFFFFF"/>
                </a:solidFill>
                <a:latin typeface="Lato Bold"/>
                <a:ea typeface="Lato Bold"/>
                <a:cs typeface="Lato Bold"/>
                <a:sym typeface="Lato Bold"/>
              </a:rPr>
              <a:t>signi</a:t>
            </a:r>
            <a:r>
              <a:rPr lang="en-US" sz="2100" b="1" spc="18" dirty="0">
                <a:solidFill>
                  <a:srgbClr val="FFFFFF"/>
                </a:solidFill>
                <a:latin typeface="Lato Bold"/>
                <a:ea typeface="Lato Bold"/>
                <a:cs typeface="Lato Bold"/>
                <a:sym typeface="Lato Bold"/>
              </a:rPr>
              <a:t> </a:t>
            </a:r>
            <a:r>
              <a:rPr lang="en-US" sz="2100" b="1" spc="18" dirty="0" err="1">
                <a:solidFill>
                  <a:srgbClr val="FFFFFF"/>
                </a:solidFill>
                <a:latin typeface="Lato Bold"/>
                <a:ea typeface="Lato Bold"/>
                <a:cs typeface="Lato Bold"/>
                <a:sym typeface="Lato Bold"/>
              </a:rPr>
              <a:t>cantly</a:t>
            </a:r>
            <a:r>
              <a:rPr lang="en-US" sz="2100" b="1" spc="18" dirty="0">
                <a:solidFill>
                  <a:srgbClr val="FFFFFF"/>
                </a:solidFill>
                <a:latin typeface="Lato Bold"/>
                <a:ea typeface="Lato Bold"/>
                <a:cs typeface="Lato Bold"/>
                <a:sym typeface="Lato Bold"/>
              </a:rPr>
              <a:t> more than any branded counterpart. This highlights a clear preference for cost-effective, non-branded alternatives, likely driven by budget optimization. The next highest brand, Determine, contributes around $150 million, followed by Aluvia and Truvada with markedly smaller shares. The remaining brands, including </a:t>
            </a:r>
            <a:r>
              <a:rPr lang="en-US" sz="2100" b="1" spc="18" dirty="0" err="1">
                <a:solidFill>
                  <a:srgbClr val="FFFFFF"/>
                </a:solidFill>
                <a:latin typeface="Lato Bold"/>
                <a:ea typeface="Lato Bold"/>
                <a:cs typeface="Lato Bold"/>
                <a:sym typeface="Lato Bold"/>
              </a:rPr>
              <a:t>Atripla</a:t>
            </a:r>
            <a:r>
              <a:rPr lang="en-US" sz="2100" b="1" spc="18" dirty="0">
                <a:solidFill>
                  <a:srgbClr val="FFFFFF"/>
                </a:solidFill>
                <a:latin typeface="Lato Bold"/>
                <a:ea typeface="Lato Bold"/>
                <a:cs typeface="Lato Bold"/>
                <a:sym typeface="Lato Bold"/>
              </a:rPr>
              <a:t> and </a:t>
            </a:r>
            <a:r>
              <a:rPr lang="en-US" sz="2100" b="1" spc="18" dirty="0" err="1">
                <a:solidFill>
                  <a:srgbClr val="FFFFFF"/>
                </a:solidFill>
                <a:latin typeface="Lato Bold"/>
                <a:ea typeface="Lato Bold"/>
                <a:cs typeface="Lato Bold"/>
                <a:sym typeface="Lato Bold"/>
              </a:rPr>
              <a:t>Ziagen</a:t>
            </a:r>
            <a:r>
              <a:rPr lang="en-US" sz="2100" b="1" spc="18" dirty="0">
                <a:solidFill>
                  <a:srgbClr val="FFFFFF"/>
                </a:solidFill>
                <a:latin typeface="Lato Bold"/>
                <a:ea typeface="Lato Bold"/>
                <a:cs typeface="Lato Bold"/>
                <a:sym typeface="Lato Bold"/>
              </a:rPr>
              <a:t>, show minimal  </a:t>
            </a:r>
            <a:r>
              <a:rPr lang="en-US" sz="2100" b="1" spc="18" dirty="0" err="1">
                <a:solidFill>
                  <a:srgbClr val="FFFFFF"/>
                </a:solidFill>
                <a:latin typeface="Lato Bold"/>
                <a:ea typeface="Lato Bold"/>
                <a:cs typeface="Lato Bold"/>
                <a:sym typeface="Lato Bold"/>
              </a:rPr>
              <a:t>nancial</a:t>
            </a:r>
            <a:r>
              <a:rPr lang="en-US" sz="2100" b="1" spc="18" dirty="0">
                <a:solidFill>
                  <a:srgbClr val="FFFFFF"/>
                </a:solidFill>
                <a:latin typeface="Lato Bold"/>
                <a:ea typeface="Lato Bold"/>
                <a:cs typeface="Lato Bold"/>
                <a:sym typeface="Lato Bold"/>
              </a:rPr>
              <a:t> impact. This strong reliance on generics suggests strategic procurement aimed at maximizing treatment coverage while minimizing cost. It may also re </a:t>
            </a:r>
            <a:r>
              <a:rPr lang="en-US" sz="2100" b="1" spc="18" dirty="0" err="1">
                <a:solidFill>
                  <a:srgbClr val="FFFFFF"/>
                </a:solidFill>
                <a:latin typeface="Lato Bold"/>
                <a:ea typeface="Lato Bold"/>
                <a:cs typeface="Lato Bold"/>
                <a:sym typeface="Lato Bold"/>
              </a:rPr>
              <a:t>ect</a:t>
            </a:r>
            <a:r>
              <a:rPr lang="en-US" sz="2100" b="1" spc="18" dirty="0">
                <a:solidFill>
                  <a:srgbClr val="FFFFFF"/>
                </a:solidFill>
                <a:latin typeface="Lato Bold"/>
                <a:ea typeface="Lato Bold"/>
                <a:cs typeface="Lato Bold"/>
                <a:sym typeface="Lato Bold"/>
              </a:rPr>
              <a:t> the widespread availability and effectiveness of generic versions for essential medications.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4" name="Freeform 4"/>
          <p:cNvSpPr/>
          <p:nvPr/>
        </p:nvSpPr>
        <p:spPr>
          <a:xfrm>
            <a:off x="4426563" y="958177"/>
            <a:ext cx="8753475" cy="4886325"/>
          </a:xfrm>
          <a:custGeom>
            <a:avLst/>
            <a:gdLst/>
            <a:ahLst/>
            <a:cxnLst/>
            <a:rect l="l" t="t" r="r" b="b"/>
            <a:pathLst>
              <a:path w="8753475" h="4886325">
                <a:moveTo>
                  <a:pt x="0" y="0"/>
                </a:moveTo>
                <a:lnTo>
                  <a:pt x="8753475" y="0"/>
                </a:lnTo>
                <a:lnTo>
                  <a:pt x="8753475" y="4886325"/>
                </a:lnTo>
                <a:lnTo>
                  <a:pt x="0" y="4886325"/>
                </a:lnTo>
                <a:lnTo>
                  <a:pt x="0" y="0"/>
                </a:lnTo>
                <a:close/>
              </a:path>
            </a:pathLst>
          </a:custGeom>
          <a:blipFill>
            <a:blip r:embed="rId5"/>
            <a:stretch>
              <a:fillRect/>
            </a:stretch>
          </a:blipFill>
        </p:spPr>
      </p:sp>
      <p:sp>
        <p:nvSpPr>
          <p:cNvPr id="6" name="TextBox 6"/>
          <p:cNvSpPr txBox="1"/>
          <p:nvPr/>
        </p:nvSpPr>
        <p:spPr>
          <a:xfrm>
            <a:off x="952500" y="-886"/>
            <a:ext cx="11017110" cy="624840"/>
          </a:xfrm>
          <a:prstGeom prst="rect">
            <a:avLst/>
          </a:prstGeom>
        </p:spPr>
        <p:txBody>
          <a:bodyPr lIns="0" tIns="0" rIns="0" bIns="0" rtlCol="0" anchor="t">
            <a:spAutoFit/>
          </a:bodyPr>
          <a:lstStyle/>
          <a:p>
            <a:pPr algn="l">
              <a:lnSpc>
                <a:spcPts val="5040"/>
              </a:lnSpc>
            </a:pPr>
            <a:r>
              <a:rPr lang="en-US" sz="3600" b="1" spc="32">
                <a:solidFill>
                  <a:srgbClr val="FFFFFF"/>
                </a:solidFill>
                <a:latin typeface="Lato Bold"/>
                <a:ea typeface="Lato Bold"/>
                <a:cs typeface="Lato Bold"/>
                <a:sym typeface="Lato Bold"/>
              </a:rPr>
              <a:t>Distribution of Freight Cost (USD) by Product Group</a:t>
            </a:r>
          </a:p>
        </p:txBody>
      </p:sp>
      <p:sp>
        <p:nvSpPr>
          <p:cNvPr id="7" name="TextBox 7"/>
          <p:cNvSpPr txBox="1"/>
          <p:nvPr/>
        </p:nvSpPr>
        <p:spPr>
          <a:xfrm>
            <a:off x="1551870" y="6158265"/>
            <a:ext cx="15288330" cy="2539365"/>
          </a:xfrm>
          <a:prstGeom prst="rect">
            <a:avLst/>
          </a:prstGeom>
        </p:spPr>
        <p:txBody>
          <a:bodyPr wrap="square" lIns="0" tIns="0" rIns="0" bIns="0" rtlCol="0" anchor="t">
            <a:spAutoFit/>
          </a:bodyPr>
          <a:lstStyle/>
          <a:p>
            <a:pPr algn="just">
              <a:lnSpc>
                <a:spcPts val="3349"/>
              </a:lnSpc>
            </a:pPr>
            <a:r>
              <a:rPr lang="en-US" sz="2100" b="1" spc="12" dirty="0">
                <a:solidFill>
                  <a:srgbClr val="FAFAFC"/>
                </a:solidFill>
                <a:latin typeface="Lato Bold"/>
                <a:ea typeface="Lato Bold"/>
                <a:cs typeface="Lato Bold"/>
                <a:sym typeface="Lato Bold"/>
              </a:rPr>
              <a:t>Freight cost distribution varies </a:t>
            </a:r>
            <a:r>
              <a:rPr lang="en-US" sz="2100" b="1" spc="12" dirty="0" err="1">
                <a:solidFill>
                  <a:srgbClr val="FAFAFC"/>
                </a:solidFill>
                <a:latin typeface="Lato Bold"/>
                <a:ea typeface="Lato Bold"/>
                <a:cs typeface="Lato Bold"/>
                <a:sym typeface="Lato Bold"/>
              </a:rPr>
              <a:t>signi</a:t>
            </a:r>
            <a:r>
              <a:rPr lang="en-US" sz="2100" b="1" spc="12" dirty="0">
                <a:solidFill>
                  <a:srgbClr val="FAFAFC"/>
                </a:solidFill>
                <a:latin typeface="Lato Bold"/>
                <a:ea typeface="Lato Bold"/>
                <a:cs typeface="Lato Bold"/>
                <a:sym typeface="Lato Bold"/>
              </a:rPr>
              <a:t> </a:t>
            </a:r>
            <a:r>
              <a:rPr lang="en-US" sz="2100" b="1" spc="12" dirty="0" err="1">
                <a:solidFill>
                  <a:srgbClr val="FAFAFC"/>
                </a:solidFill>
                <a:latin typeface="Lato Bold"/>
                <a:ea typeface="Lato Bold"/>
                <a:cs typeface="Lato Bold"/>
                <a:sym typeface="Lato Bold"/>
              </a:rPr>
              <a:t>cantly</a:t>
            </a:r>
            <a:r>
              <a:rPr lang="en-US" sz="2100" b="1" spc="12" dirty="0">
                <a:solidFill>
                  <a:srgbClr val="FAFAFC"/>
                </a:solidFill>
                <a:latin typeface="Lato Bold"/>
                <a:ea typeface="Lato Bold"/>
                <a:cs typeface="Lato Bold"/>
                <a:sym typeface="Lato Bold"/>
              </a:rPr>
              <a:t> across product groups. HRDT exhibits the widest spread and highest outliers, with some shipments exceeding $300,000, indicating occasional high-cost logistical challenges. ARV also shows a wide range but is slightly more concentrated around lower costs. MRDT has the most compact distribution, suggesting stable and predictable freight expenses. ACT and ANTM have moderate ranges, though ANTM has more high-cost outliers. These patterns may re </a:t>
            </a:r>
            <a:r>
              <a:rPr lang="en-US" sz="2100" b="1" spc="12" dirty="0" err="1">
                <a:solidFill>
                  <a:srgbClr val="FAFAFC"/>
                </a:solidFill>
                <a:latin typeface="Lato Bold"/>
                <a:ea typeface="Lato Bold"/>
                <a:cs typeface="Lato Bold"/>
                <a:sym typeface="Lato Bold"/>
              </a:rPr>
              <a:t>ect</a:t>
            </a:r>
            <a:r>
              <a:rPr lang="en-US" sz="2100" b="1" spc="12" dirty="0">
                <a:solidFill>
                  <a:srgbClr val="FAFAFC"/>
                </a:solidFill>
                <a:latin typeface="Lato Bold"/>
                <a:ea typeface="Lato Bold"/>
                <a:cs typeface="Lato Bold"/>
                <a:sym typeface="Lato Bold"/>
              </a:rPr>
              <a:t> differences in shipment size, weight, urgency, or route complexity. Monitoring HRDT and ARV logistics could uncover opportunities to optimize freight expenditures and reduce extreme shipping costs.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4" name="Freeform 4"/>
          <p:cNvSpPr/>
          <p:nvPr/>
        </p:nvSpPr>
        <p:spPr>
          <a:xfrm>
            <a:off x="5206832" y="1124512"/>
            <a:ext cx="6867525" cy="4800600"/>
          </a:xfrm>
          <a:custGeom>
            <a:avLst/>
            <a:gdLst/>
            <a:ahLst/>
            <a:cxnLst/>
            <a:rect l="l" t="t" r="r" b="b"/>
            <a:pathLst>
              <a:path w="6867525" h="4800600">
                <a:moveTo>
                  <a:pt x="0" y="0"/>
                </a:moveTo>
                <a:lnTo>
                  <a:pt x="6867525" y="0"/>
                </a:lnTo>
                <a:lnTo>
                  <a:pt x="6867525" y="4800600"/>
                </a:lnTo>
                <a:lnTo>
                  <a:pt x="0" y="4800600"/>
                </a:lnTo>
                <a:lnTo>
                  <a:pt x="0" y="0"/>
                </a:lnTo>
                <a:close/>
              </a:path>
            </a:pathLst>
          </a:custGeom>
          <a:blipFill>
            <a:blip r:embed="rId5"/>
            <a:stretch>
              <a:fillRect/>
            </a:stretch>
          </a:blipFill>
        </p:spPr>
      </p:sp>
      <p:sp>
        <p:nvSpPr>
          <p:cNvPr id="6" name="TextBox 6"/>
          <p:cNvSpPr txBox="1"/>
          <p:nvPr/>
        </p:nvSpPr>
        <p:spPr>
          <a:xfrm>
            <a:off x="952500" y="162582"/>
            <a:ext cx="7264918" cy="624840"/>
          </a:xfrm>
          <a:prstGeom prst="rect">
            <a:avLst/>
          </a:prstGeom>
        </p:spPr>
        <p:txBody>
          <a:bodyPr lIns="0" tIns="0" rIns="0" bIns="0" rtlCol="0" anchor="t">
            <a:spAutoFit/>
          </a:bodyPr>
          <a:lstStyle/>
          <a:p>
            <a:pPr algn="l">
              <a:lnSpc>
                <a:spcPts val="5040"/>
              </a:lnSpc>
            </a:pPr>
            <a:r>
              <a:rPr lang="en-US" sz="3600" b="1" spc="36">
                <a:solidFill>
                  <a:srgbClr val="FFFFFF"/>
                </a:solidFill>
                <a:latin typeface="Lato Bold"/>
                <a:ea typeface="Lato Bold"/>
                <a:cs typeface="Lato Bold"/>
                <a:sym typeface="Lato Bold"/>
              </a:rPr>
              <a:t>Correlation Between Cost Metrics</a:t>
            </a:r>
          </a:p>
        </p:txBody>
      </p:sp>
      <p:sp>
        <p:nvSpPr>
          <p:cNvPr id="7" name="TextBox 7"/>
          <p:cNvSpPr txBox="1"/>
          <p:nvPr/>
        </p:nvSpPr>
        <p:spPr>
          <a:xfrm>
            <a:off x="1915135" y="6249076"/>
            <a:ext cx="15171553" cy="2110740"/>
          </a:xfrm>
          <a:prstGeom prst="rect">
            <a:avLst/>
          </a:prstGeom>
        </p:spPr>
        <p:txBody>
          <a:bodyPr lIns="0" tIns="0" rIns="0" bIns="0" rtlCol="0" anchor="t">
            <a:spAutoFit/>
          </a:bodyPr>
          <a:lstStyle/>
          <a:p>
            <a:pPr algn="just">
              <a:lnSpc>
                <a:spcPts val="3374"/>
              </a:lnSpc>
            </a:pPr>
            <a:r>
              <a:rPr lang="en-US" sz="2100" b="1" spc="39">
                <a:solidFill>
                  <a:srgbClr val="FFFFFF"/>
                </a:solidFill>
                <a:latin typeface="Lato Bold"/>
                <a:ea typeface="Lato Bold"/>
                <a:cs typeface="Lato Bold"/>
                <a:sym typeface="Lato Bold"/>
              </a:rPr>
              <a:t>The correlation matrix reveals that line item value and freight cost are moderately correlated with weight (0.38 and 0.30, respectively), suggesting that heavier items typically incur higher costs. A moderate correlation (0.36) also exists between line item value and freight cost. However, unit price shows virtually no correlation with other variables, indicating that per-unit cost does not signi cantly in uence total value, weight, or freight charges. This insight implies that shipment planning should prioritize weight management to control costs, while unit price alone is not a reliable driver of total logistics expenses.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85" b="-85"/>
            </a:stretch>
          </a:blipFill>
        </p:spPr>
      </p:sp>
      <p:sp>
        <p:nvSpPr>
          <p:cNvPr id="4" name="Freeform 4"/>
          <p:cNvSpPr/>
          <p:nvPr/>
        </p:nvSpPr>
        <p:spPr>
          <a:xfrm>
            <a:off x="5449281" y="797576"/>
            <a:ext cx="7258050" cy="5381625"/>
          </a:xfrm>
          <a:custGeom>
            <a:avLst/>
            <a:gdLst/>
            <a:ahLst/>
            <a:cxnLst/>
            <a:rect l="l" t="t" r="r" b="b"/>
            <a:pathLst>
              <a:path w="7258050" h="5381625">
                <a:moveTo>
                  <a:pt x="0" y="0"/>
                </a:moveTo>
                <a:lnTo>
                  <a:pt x="7258050" y="0"/>
                </a:lnTo>
                <a:lnTo>
                  <a:pt x="7258050" y="5381625"/>
                </a:lnTo>
                <a:lnTo>
                  <a:pt x="0" y="5381625"/>
                </a:lnTo>
                <a:lnTo>
                  <a:pt x="0" y="0"/>
                </a:lnTo>
                <a:close/>
              </a:path>
            </a:pathLst>
          </a:custGeom>
          <a:blipFill>
            <a:blip r:embed="rId5"/>
            <a:stretch>
              <a:fillRect/>
            </a:stretch>
          </a:blipFill>
        </p:spPr>
      </p:sp>
      <p:sp>
        <p:nvSpPr>
          <p:cNvPr id="6" name="TextBox 6"/>
          <p:cNvSpPr txBox="1"/>
          <p:nvPr/>
        </p:nvSpPr>
        <p:spPr>
          <a:xfrm>
            <a:off x="952500" y="-886"/>
            <a:ext cx="4934140" cy="624840"/>
          </a:xfrm>
          <a:prstGeom prst="rect">
            <a:avLst/>
          </a:prstGeom>
        </p:spPr>
        <p:txBody>
          <a:bodyPr lIns="0" tIns="0" rIns="0" bIns="0" rtlCol="0" anchor="t">
            <a:spAutoFit/>
          </a:bodyPr>
          <a:lstStyle/>
          <a:p>
            <a:pPr algn="l">
              <a:lnSpc>
                <a:spcPts val="5040"/>
              </a:lnSpc>
            </a:pPr>
            <a:r>
              <a:rPr lang="en-US" sz="3600" b="1" spc="28">
                <a:solidFill>
                  <a:srgbClr val="FFFFFF"/>
                </a:solidFill>
                <a:latin typeface="Lato Bold"/>
                <a:ea typeface="Lato Bold"/>
                <a:cs typeface="Lato Bold"/>
                <a:sym typeface="Lato Bold"/>
              </a:rPr>
              <a:t>Freight Cost vs. Weight</a:t>
            </a:r>
          </a:p>
        </p:txBody>
      </p:sp>
      <p:sp>
        <p:nvSpPr>
          <p:cNvPr id="7" name="TextBox 7"/>
          <p:cNvSpPr txBox="1"/>
          <p:nvPr/>
        </p:nvSpPr>
        <p:spPr>
          <a:xfrm>
            <a:off x="1676399" y="6539684"/>
            <a:ext cx="14706601" cy="2564485"/>
          </a:xfrm>
          <a:prstGeom prst="rect">
            <a:avLst/>
          </a:prstGeom>
        </p:spPr>
        <p:txBody>
          <a:bodyPr wrap="square" lIns="0" tIns="0" rIns="0" bIns="0" rtlCol="0" anchor="t">
            <a:spAutoFit/>
          </a:bodyPr>
          <a:lstStyle/>
          <a:p>
            <a:pPr algn="just">
              <a:lnSpc>
                <a:spcPts val="3374"/>
              </a:lnSpc>
            </a:pPr>
            <a:r>
              <a:rPr lang="en-US" sz="2100" b="1" spc="16" dirty="0">
                <a:solidFill>
                  <a:srgbClr val="FFFFFF"/>
                </a:solidFill>
                <a:latin typeface="Lato Bold"/>
                <a:ea typeface="Lato Bold"/>
                <a:cs typeface="Lato Bold"/>
                <a:sym typeface="Lato Bold"/>
              </a:rPr>
              <a:t>This scatter plot shows the relationship between freight cost and shipment weight across different shipment modes. Air shipments dominate the higher cost range, even for lower weights, highlighting their premium nature. In contrast, truck and ocean shipments handle heavier weights with comparatively lower costs, making them more economical for bulk logistics. Air Charter appears in a limited range but also incurs high costs per kilogram. Overall, shipment mode </a:t>
            </a:r>
            <a:r>
              <a:rPr lang="en-US" sz="2100" b="1" spc="16" dirty="0" err="1">
                <a:solidFill>
                  <a:srgbClr val="FFFFFF"/>
                </a:solidFill>
                <a:latin typeface="Lato Bold"/>
                <a:ea typeface="Lato Bold"/>
                <a:cs typeface="Lato Bold"/>
                <a:sym typeface="Lato Bold"/>
              </a:rPr>
              <a:t>signi</a:t>
            </a:r>
            <a:r>
              <a:rPr lang="en-US" sz="2100" b="1" spc="16" dirty="0">
                <a:solidFill>
                  <a:srgbClr val="FFFFFF"/>
                </a:solidFill>
                <a:latin typeface="Lato Bold"/>
                <a:ea typeface="Lato Bold"/>
                <a:cs typeface="Lato Bold"/>
                <a:sym typeface="Lato Bold"/>
              </a:rPr>
              <a:t> </a:t>
            </a:r>
            <a:r>
              <a:rPr lang="en-US" sz="2100" b="1" spc="16" dirty="0" err="1">
                <a:solidFill>
                  <a:srgbClr val="FFFFFF"/>
                </a:solidFill>
                <a:latin typeface="Lato Bold"/>
                <a:ea typeface="Lato Bold"/>
                <a:cs typeface="Lato Bold"/>
                <a:sym typeface="Lato Bold"/>
              </a:rPr>
              <a:t>cantly</a:t>
            </a:r>
            <a:r>
              <a:rPr lang="en-US" sz="2100" b="1" spc="16" dirty="0">
                <a:solidFill>
                  <a:srgbClr val="FFFFFF"/>
                </a:solidFill>
                <a:latin typeface="Lato Bold"/>
                <a:ea typeface="Lato Bold"/>
                <a:cs typeface="Lato Bold"/>
                <a:sym typeface="Lato Bold"/>
              </a:rPr>
              <a:t> in </a:t>
            </a:r>
            <a:r>
              <a:rPr lang="en-US" sz="2100" b="1" spc="16" dirty="0" err="1">
                <a:solidFill>
                  <a:srgbClr val="FFFFFF"/>
                </a:solidFill>
                <a:latin typeface="Lato Bold"/>
                <a:ea typeface="Lato Bold"/>
                <a:cs typeface="Lato Bold"/>
                <a:sym typeface="Lato Bold"/>
              </a:rPr>
              <a:t>uences</a:t>
            </a:r>
            <a:r>
              <a:rPr lang="en-US" sz="2100" b="1" spc="16" dirty="0">
                <a:solidFill>
                  <a:srgbClr val="FFFFFF"/>
                </a:solidFill>
                <a:latin typeface="Lato Bold"/>
                <a:ea typeface="Lato Bold"/>
                <a:cs typeface="Lato Bold"/>
                <a:sym typeface="Lato Bold"/>
              </a:rPr>
              <a:t> cost </a:t>
            </a:r>
            <a:r>
              <a:rPr lang="en-US" sz="2100" b="1" spc="16" dirty="0" err="1">
                <a:solidFill>
                  <a:srgbClr val="FFFFFF"/>
                </a:solidFill>
                <a:latin typeface="Lato Bold"/>
                <a:ea typeface="Lato Bold"/>
                <a:cs typeface="Lato Bold"/>
                <a:sym typeface="Lato Bold"/>
              </a:rPr>
              <a:t>ef</a:t>
            </a:r>
            <a:r>
              <a:rPr lang="en-US" sz="2100" b="1" spc="16" dirty="0">
                <a:solidFill>
                  <a:srgbClr val="FFFFFF"/>
                </a:solidFill>
                <a:latin typeface="Lato Bold"/>
                <a:ea typeface="Lato Bold"/>
                <a:cs typeface="Lato Bold"/>
                <a:sym typeface="Lato Bold"/>
              </a:rPr>
              <a:t> </a:t>
            </a:r>
            <a:r>
              <a:rPr lang="en-US" sz="2100" b="1" spc="16" dirty="0" err="1">
                <a:solidFill>
                  <a:srgbClr val="FFFFFF"/>
                </a:solidFill>
                <a:latin typeface="Lato Bold"/>
                <a:ea typeface="Lato Bold"/>
                <a:cs typeface="Lato Bold"/>
                <a:sym typeface="Lato Bold"/>
              </a:rPr>
              <a:t>ciency</a:t>
            </a:r>
            <a:r>
              <a:rPr lang="en-US" sz="2100" b="1" spc="16" dirty="0">
                <a:solidFill>
                  <a:srgbClr val="FFFFFF"/>
                </a:solidFill>
                <a:latin typeface="Lato Bold"/>
                <a:ea typeface="Lato Bold"/>
                <a:cs typeface="Lato Bold"/>
                <a:sym typeface="Lato Bold"/>
              </a:rPr>
              <a:t>, and selecting truck or ocean for heavier loads can substantially reduce freight expenses compared to air-based options.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10"/>
            <a:ext cx="18288000" cy="10286990"/>
          </a:xfrm>
          <a:custGeom>
            <a:avLst/>
            <a:gdLst/>
            <a:ahLst/>
            <a:cxnLst/>
            <a:rect l="l" t="t" r="r" b="b"/>
            <a:pathLst>
              <a:path w="18288000" h="10286990">
                <a:moveTo>
                  <a:pt x="0" y="0"/>
                </a:moveTo>
                <a:lnTo>
                  <a:pt x="18288000" y="0"/>
                </a:lnTo>
                <a:lnTo>
                  <a:pt x="18288000" y="10286990"/>
                </a:lnTo>
                <a:lnTo>
                  <a:pt x="0" y="10286990"/>
                </a:lnTo>
                <a:lnTo>
                  <a:pt x="0" y="0"/>
                </a:lnTo>
                <a:close/>
              </a:path>
            </a:pathLst>
          </a:custGeom>
          <a:blipFill>
            <a:blip r:embed="rId4"/>
            <a:stretch>
              <a:fillRect t="-85" b="-86"/>
            </a:stretch>
          </a:blipFill>
        </p:spPr>
      </p:sp>
      <p:sp>
        <p:nvSpPr>
          <p:cNvPr id="5" name="TextBox 5"/>
          <p:cNvSpPr txBox="1"/>
          <p:nvPr/>
        </p:nvSpPr>
        <p:spPr>
          <a:xfrm>
            <a:off x="4712208" y="83429"/>
            <a:ext cx="9038701" cy="826770"/>
          </a:xfrm>
          <a:prstGeom prst="rect">
            <a:avLst/>
          </a:prstGeom>
        </p:spPr>
        <p:txBody>
          <a:bodyPr lIns="0" tIns="0" rIns="0" bIns="0" rtlCol="0" anchor="t">
            <a:spAutoFit/>
          </a:bodyPr>
          <a:lstStyle/>
          <a:p>
            <a:pPr algn="l">
              <a:lnSpc>
                <a:spcPts val="6719"/>
              </a:lnSpc>
            </a:pPr>
            <a:r>
              <a:rPr lang="en-US" sz="4800" b="1">
                <a:solidFill>
                  <a:srgbClr val="FAFAFC"/>
                </a:solidFill>
                <a:latin typeface="Lato Bold"/>
                <a:ea typeface="Lato Bold"/>
                <a:cs typeface="Lato Bold"/>
                <a:sym typeface="Lato Bold"/>
              </a:rPr>
              <a:t>5. Solution to Business Objective</a:t>
            </a:r>
          </a:p>
        </p:txBody>
      </p:sp>
      <p:sp>
        <p:nvSpPr>
          <p:cNvPr id="6" name="TextBox 6"/>
          <p:cNvSpPr txBox="1"/>
          <p:nvPr/>
        </p:nvSpPr>
        <p:spPr>
          <a:xfrm>
            <a:off x="3749582" y="1788176"/>
            <a:ext cx="10347417" cy="5488682"/>
          </a:xfrm>
          <a:prstGeom prst="rect">
            <a:avLst/>
          </a:prstGeom>
        </p:spPr>
        <p:txBody>
          <a:bodyPr wrap="square" lIns="0" tIns="0" rIns="0" bIns="0" rtlCol="0" anchor="t">
            <a:spAutoFit/>
          </a:bodyPr>
          <a:lstStyle/>
          <a:p>
            <a:pPr algn="l">
              <a:lnSpc>
                <a:spcPts val="4290"/>
              </a:lnSpc>
            </a:pPr>
            <a:r>
              <a:rPr lang="en-US" sz="2700" b="1" dirty="0">
                <a:solidFill>
                  <a:srgbClr val="FAFAFC"/>
                </a:solidFill>
                <a:latin typeface="Lato Bold"/>
                <a:ea typeface="Lato Bold"/>
                <a:cs typeface="Lato Bold"/>
                <a:sym typeface="Lato Bold"/>
              </a:rPr>
              <a:t>Strategic Actions for Procurement &amp; Logistics Optimization</a:t>
            </a:r>
          </a:p>
          <a:p>
            <a:pPr algn="l">
              <a:lnSpc>
                <a:spcPts val="4290"/>
              </a:lnSpc>
            </a:pPr>
            <a:r>
              <a:rPr lang="en-US" sz="2700" b="1" dirty="0">
                <a:solidFill>
                  <a:srgbClr val="FAFAFC"/>
                </a:solidFill>
                <a:latin typeface="Lato Bold"/>
                <a:ea typeface="Lato Bold"/>
                <a:cs typeface="Lato Bold"/>
                <a:sym typeface="Lato Bold"/>
              </a:rPr>
              <a:t> </a:t>
            </a:r>
          </a:p>
          <a:p>
            <a:pPr marL="514350" indent="-514350" algn="l">
              <a:lnSpc>
                <a:spcPts val="4290"/>
              </a:lnSpc>
              <a:buAutoNum type="arabicPeriod"/>
            </a:pPr>
            <a:r>
              <a:rPr lang="en-US" sz="2700" b="1" dirty="0">
                <a:solidFill>
                  <a:srgbClr val="FAFAFC"/>
                </a:solidFill>
                <a:latin typeface="Lato Bold"/>
                <a:ea typeface="Lato Bold"/>
                <a:cs typeface="Lato Bold"/>
                <a:sym typeface="Lato Bold"/>
              </a:rPr>
              <a:t>Focus on High-Value Vendors &amp; Brands </a:t>
            </a:r>
          </a:p>
          <a:p>
            <a:pPr algn="l">
              <a:lnSpc>
                <a:spcPts val="4290"/>
              </a:lnSpc>
            </a:pPr>
            <a:r>
              <a:rPr lang="en-US" sz="2700" b="1" dirty="0">
                <a:solidFill>
                  <a:srgbClr val="FAFAFC"/>
                </a:solidFill>
                <a:latin typeface="Lato Bold"/>
                <a:ea typeface="Lato Bold"/>
                <a:cs typeface="Lato Bold"/>
                <a:sym typeface="Lato Bold"/>
              </a:rPr>
              <a:t>2. Improve Delivery Timelines </a:t>
            </a:r>
          </a:p>
          <a:p>
            <a:pPr algn="l">
              <a:lnSpc>
                <a:spcPts val="4290"/>
              </a:lnSpc>
            </a:pPr>
            <a:r>
              <a:rPr lang="en-US" sz="2700" b="1" dirty="0">
                <a:solidFill>
                  <a:srgbClr val="FAFAFC"/>
                </a:solidFill>
                <a:latin typeface="Lato Bold"/>
                <a:ea typeface="Lato Bold"/>
                <a:cs typeface="Lato Bold"/>
                <a:sym typeface="Lato Bold"/>
              </a:rPr>
              <a:t>3. Reduce Freight Costs</a:t>
            </a:r>
          </a:p>
          <a:p>
            <a:pPr algn="l">
              <a:lnSpc>
                <a:spcPts val="4649"/>
              </a:lnSpc>
            </a:pPr>
            <a:r>
              <a:rPr lang="en-US" sz="2700" b="1" dirty="0">
                <a:solidFill>
                  <a:srgbClr val="FAFAFC"/>
                </a:solidFill>
                <a:latin typeface="Lato Bold"/>
                <a:ea typeface="Lato Bold"/>
                <a:cs typeface="Lato Bold"/>
                <a:sym typeface="Lato Bold"/>
              </a:rPr>
              <a:t>4. Strengthen Inventory Planning</a:t>
            </a:r>
          </a:p>
          <a:p>
            <a:pPr algn="l">
              <a:lnSpc>
                <a:spcPts val="4284"/>
              </a:lnSpc>
            </a:pPr>
            <a:r>
              <a:rPr lang="en-US" sz="2700" b="1" dirty="0">
                <a:solidFill>
                  <a:srgbClr val="FAFAFC"/>
                </a:solidFill>
                <a:latin typeface="Lato Bold"/>
                <a:ea typeface="Lato Bold"/>
                <a:cs typeface="Lato Bold"/>
                <a:sym typeface="Lato Bold"/>
              </a:rPr>
              <a:t>5. Monitor with Dashboards</a:t>
            </a:r>
          </a:p>
          <a:p>
            <a:pPr algn="l">
              <a:lnSpc>
                <a:spcPts val="4284"/>
              </a:lnSpc>
            </a:pPr>
            <a:r>
              <a:rPr lang="en-US" sz="2700" b="1" dirty="0">
                <a:solidFill>
                  <a:srgbClr val="FAFAFC"/>
                </a:solidFill>
                <a:latin typeface="Lato Bold"/>
                <a:ea typeface="Lato Bold"/>
                <a:cs typeface="Lato Bold"/>
                <a:sym typeface="Lato Bold"/>
              </a:rPr>
              <a:t> </a:t>
            </a:r>
          </a:p>
          <a:p>
            <a:pPr algn="l">
              <a:lnSpc>
                <a:spcPts val="4284"/>
              </a:lnSpc>
            </a:pPr>
            <a:r>
              <a:rPr lang="en-US" sz="2700" b="1" dirty="0">
                <a:solidFill>
                  <a:srgbClr val="FAFAFC"/>
                </a:solidFill>
                <a:latin typeface="Lato Bold"/>
                <a:ea typeface="Lato Bold"/>
                <a:cs typeface="Lato Bold"/>
                <a:sym typeface="Lato Bold"/>
              </a:rPr>
              <a:t>Business Impact </a:t>
            </a:r>
            <a:r>
              <a:rPr lang="en-US" sz="2700" b="1" dirty="0">
                <a:solidFill>
                  <a:srgbClr val="939DA8"/>
                </a:solidFill>
                <a:latin typeface="Lato Bold"/>
                <a:ea typeface="Lato Bold"/>
                <a:cs typeface="Lato Bold"/>
                <a:sym typeface="Lato Bold"/>
              </a:rPr>
              <a:t>•</a:t>
            </a:r>
            <a:r>
              <a:rPr lang="en-US" sz="2700" b="1" dirty="0">
                <a:solidFill>
                  <a:srgbClr val="FAFAFC"/>
                </a:solidFill>
                <a:latin typeface="Lato Bold"/>
                <a:ea typeface="Lato Bold"/>
                <a:cs typeface="Lato Bold"/>
                <a:sym typeface="Lato Bold"/>
              </a:rPr>
              <a:t>Lower costs </a:t>
            </a:r>
            <a:r>
              <a:rPr lang="en-US" sz="2700" b="1" dirty="0">
                <a:solidFill>
                  <a:srgbClr val="939DA8"/>
                </a:solidFill>
                <a:latin typeface="Lato Bold"/>
                <a:ea typeface="Lato Bold"/>
                <a:cs typeface="Lato Bold"/>
                <a:sym typeface="Lato Bold"/>
              </a:rPr>
              <a:t>•</a:t>
            </a:r>
            <a:r>
              <a:rPr lang="en-US" sz="2700" b="1" dirty="0">
                <a:solidFill>
                  <a:srgbClr val="FAFAFC"/>
                </a:solidFill>
                <a:latin typeface="Lato Bold"/>
                <a:ea typeface="Lato Bold"/>
                <a:cs typeface="Lato Bold"/>
                <a:sym typeface="Lato Bold"/>
              </a:rPr>
              <a:t>Reliable delivery </a:t>
            </a:r>
            <a:r>
              <a:rPr lang="en-US" sz="2700" b="1" dirty="0">
                <a:solidFill>
                  <a:srgbClr val="939DA8"/>
                </a:solidFill>
                <a:latin typeface="Lato Bold"/>
                <a:ea typeface="Lato Bold"/>
                <a:cs typeface="Lato Bold"/>
                <a:sym typeface="Lato Bold"/>
              </a:rPr>
              <a:t>•</a:t>
            </a:r>
            <a:r>
              <a:rPr lang="en-US" sz="2700" b="1" dirty="0">
                <a:solidFill>
                  <a:srgbClr val="FAFAFC"/>
                </a:solidFill>
                <a:latin typeface="Lato Bold"/>
                <a:ea typeface="Lato Bold"/>
                <a:cs typeface="Lato Bold"/>
                <a:sym typeface="Lato Bold"/>
              </a:rPr>
              <a:t>Stronger inventory health </a:t>
            </a:r>
            <a:r>
              <a:rPr lang="en-US" sz="2700" b="1" dirty="0">
                <a:solidFill>
                  <a:srgbClr val="939DA8"/>
                </a:solidFill>
                <a:latin typeface="Lato Bold"/>
                <a:ea typeface="Lato Bold"/>
                <a:cs typeface="Lato Bold"/>
                <a:sym typeface="Lato Bold"/>
              </a:rPr>
              <a:t>•</a:t>
            </a:r>
            <a:r>
              <a:rPr lang="en-US" sz="2700" b="1" dirty="0">
                <a:solidFill>
                  <a:srgbClr val="FAFAFC"/>
                </a:solidFill>
                <a:latin typeface="Lato Bold"/>
                <a:ea typeface="Lato Bold"/>
                <a:cs typeface="Lato Bold"/>
                <a:sym typeface="Lato Bold"/>
              </a:rPr>
              <a:t>Better planning &amp; supplier leverage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10"/>
            <a:ext cx="18288000" cy="10286990"/>
          </a:xfrm>
          <a:custGeom>
            <a:avLst/>
            <a:gdLst/>
            <a:ahLst/>
            <a:cxnLst/>
            <a:rect l="l" t="t" r="r" b="b"/>
            <a:pathLst>
              <a:path w="18288000" h="10286990">
                <a:moveTo>
                  <a:pt x="0" y="0"/>
                </a:moveTo>
                <a:lnTo>
                  <a:pt x="18288000" y="0"/>
                </a:lnTo>
                <a:lnTo>
                  <a:pt x="18288000" y="10286990"/>
                </a:lnTo>
                <a:lnTo>
                  <a:pt x="0" y="10286990"/>
                </a:lnTo>
                <a:lnTo>
                  <a:pt x="0" y="0"/>
                </a:lnTo>
                <a:close/>
              </a:path>
            </a:pathLst>
          </a:custGeom>
          <a:blipFill>
            <a:blip r:embed="rId4"/>
            <a:stretch>
              <a:fillRect t="-85" b="-86"/>
            </a:stretch>
          </a:blipFill>
        </p:spPr>
      </p:sp>
      <p:sp>
        <p:nvSpPr>
          <p:cNvPr id="5" name="TextBox 5"/>
          <p:cNvSpPr txBox="1"/>
          <p:nvPr/>
        </p:nvSpPr>
        <p:spPr>
          <a:xfrm>
            <a:off x="6528492" y="233820"/>
            <a:ext cx="5793153" cy="1543050"/>
          </a:xfrm>
          <a:prstGeom prst="rect">
            <a:avLst/>
          </a:prstGeom>
        </p:spPr>
        <p:txBody>
          <a:bodyPr lIns="0" tIns="0" rIns="0" bIns="0" rtlCol="0" anchor="t">
            <a:spAutoFit/>
          </a:bodyPr>
          <a:lstStyle/>
          <a:p>
            <a:pPr algn="l">
              <a:lnSpc>
                <a:spcPts val="12599"/>
              </a:lnSpc>
            </a:pPr>
            <a:r>
              <a:rPr lang="en-US" sz="9000" b="1">
                <a:solidFill>
                  <a:srgbClr val="FFFFFF"/>
                </a:solidFill>
                <a:latin typeface="Lato Bold"/>
                <a:ea typeface="Lato Bold"/>
                <a:cs typeface="Lato Bold"/>
                <a:sym typeface="Lato Bold"/>
              </a:rPr>
              <a:t>Conclusion</a:t>
            </a:r>
          </a:p>
        </p:txBody>
      </p:sp>
      <p:sp>
        <p:nvSpPr>
          <p:cNvPr id="6" name="TextBox 6"/>
          <p:cNvSpPr txBox="1"/>
          <p:nvPr/>
        </p:nvSpPr>
        <p:spPr>
          <a:xfrm>
            <a:off x="1333919" y="2224087"/>
            <a:ext cx="16075695" cy="2707005"/>
          </a:xfrm>
          <a:prstGeom prst="rect">
            <a:avLst/>
          </a:prstGeom>
        </p:spPr>
        <p:txBody>
          <a:bodyPr lIns="0" tIns="0" rIns="0" bIns="0" rtlCol="0" anchor="t">
            <a:spAutoFit/>
          </a:bodyPr>
          <a:lstStyle/>
          <a:p>
            <a:pPr algn="l">
              <a:lnSpc>
                <a:spcPts val="4290"/>
              </a:lnSpc>
            </a:pPr>
            <a:r>
              <a:rPr lang="en-US" sz="2700" b="1" spc="13" dirty="0">
                <a:solidFill>
                  <a:srgbClr val="FFFFFF"/>
                </a:solidFill>
                <a:latin typeface="Lato Bold"/>
                <a:ea typeface="Lato Bold"/>
                <a:cs typeface="Lato Bold"/>
                <a:sym typeface="Lato Bold"/>
              </a:rPr>
              <a:t>The analysis reveals key opportunities to improve procurement and supply chain performance through smarter vendor management, shipment planning, and cost control. </a:t>
            </a:r>
          </a:p>
          <a:p>
            <a:pPr algn="l">
              <a:lnSpc>
                <a:spcPts val="4290"/>
              </a:lnSpc>
            </a:pPr>
            <a:r>
              <a:rPr lang="en-US" sz="2700" b="1" spc="13" dirty="0">
                <a:solidFill>
                  <a:srgbClr val="939DA8"/>
                </a:solidFill>
                <a:latin typeface="Lato Bold"/>
                <a:ea typeface="Lato Bold"/>
                <a:cs typeface="Lato Bold"/>
                <a:sym typeface="Lato Bold"/>
              </a:rPr>
              <a:t>•</a:t>
            </a:r>
            <a:r>
              <a:rPr lang="en-US" sz="2700" b="1" spc="13" dirty="0">
                <a:solidFill>
                  <a:srgbClr val="FFFFFF"/>
                </a:solidFill>
                <a:latin typeface="Lato Bold"/>
                <a:ea typeface="Lato Bold"/>
                <a:cs typeface="Lato Bold"/>
                <a:sym typeface="Lato Bold"/>
              </a:rPr>
              <a:t>Top vendors and brands account for most of the spend—targeting them can drive bulk savings. </a:t>
            </a:r>
          </a:p>
          <a:p>
            <a:pPr algn="l">
              <a:lnSpc>
                <a:spcPts val="4290"/>
              </a:lnSpc>
            </a:pPr>
            <a:r>
              <a:rPr lang="en-US" sz="2700" b="1" spc="13" dirty="0">
                <a:solidFill>
                  <a:srgbClr val="939DA8"/>
                </a:solidFill>
                <a:latin typeface="Lato Bold"/>
                <a:ea typeface="Lato Bold"/>
                <a:cs typeface="Lato Bold"/>
                <a:sym typeface="Lato Bold"/>
              </a:rPr>
              <a:t>•</a:t>
            </a:r>
            <a:r>
              <a:rPr lang="en-US" sz="2700" b="1" spc="13" dirty="0">
                <a:solidFill>
                  <a:srgbClr val="FFFFFF"/>
                </a:solidFill>
                <a:latin typeface="Lato Bold"/>
                <a:ea typeface="Lato Bold"/>
                <a:cs typeface="Lato Bold"/>
                <a:sym typeface="Lato Bold"/>
              </a:rPr>
              <a:t>HRDT and ARV show high freight cost variability, suggesting </a:t>
            </a:r>
            <a:r>
              <a:rPr lang="en-US" sz="2700" b="1" spc="13" dirty="0" err="1">
                <a:solidFill>
                  <a:srgbClr val="FFFFFF"/>
                </a:solidFill>
                <a:latin typeface="Lato Bold"/>
                <a:ea typeface="Lato Bold"/>
                <a:cs typeface="Lato Bold"/>
                <a:sym typeface="Lato Bold"/>
              </a:rPr>
              <a:t>inef</a:t>
            </a:r>
            <a:r>
              <a:rPr lang="en-US" sz="2700" b="1" spc="13" dirty="0">
                <a:solidFill>
                  <a:srgbClr val="FFFFFF"/>
                </a:solidFill>
                <a:latin typeface="Lato Bold"/>
                <a:ea typeface="Lato Bold"/>
                <a:cs typeface="Lato Bold"/>
                <a:sym typeface="Lato Bold"/>
              </a:rPr>
              <a:t> </a:t>
            </a:r>
            <a:r>
              <a:rPr lang="en-US" sz="2700" b="1" spc="13" dirty="0" err="1">
                <a:solidFill>
                  <a:srgbClr val="FFFFFF"/>
                </a:solidFill>
                <a:latin typeface="Lato Bold"/>
                <a:ea typeface="Lato Bold"/>
                <a:cs typeface="Lato Bold"/>
                <a:sym typeface="Lato Bold"/>
              </a:rPr>
              <a:t>ciencies</a:t>
            </a:r>
            <a:r>
              <a:rPr lang="en-US" sz="2700" b="1" spc="13" dirty="0">
                <a:solidFill>
                  <a:srgbClr val="FFFFFF"/>
                </a:solidFill>
                <a:latin typeface="Lato Bold"/>
                <a:ea typeface="Lato Bold"/>
                <a:cs typeface="Lato Bold"/>
                <a:sym typeface="Lato Bold"/>
              </a:rPr>
              <a:t>. </a:t>
            </a:r>
          </a:p>
          <a:p>
            <a:pPr algn="l">
              <a:lnSpc>
                <a:spcPts val="4290"/>
              </a:lnSpc>
            </a:pPr>
            <a:r>
              <a:rPr lang="en-US" sz="2700" b="1" spc="13" dirty="0">
                <a:solidFill>
                  <a:srgbClr val="939DA8"/>
                </a:solidFill>
                <a:latin typeface="Lato Bold"/>
                <a:ea typeface="Lato Bold"/>
                <a:cs typeface="Lato Bold"/>
                <a:sym typeface="Lato Bold"/>
              </a:rPr>
              <a:t>•</a:t>
            </a:r>
            <a:r>
              <a:rPr lang="en-US" sz="2700" b="1" spc="13" dirty="0">
                <a:solidFill>
                  <a:srgbClr val="FFFFFF"/>
                </a:solidFill>
                <a:latin typeface="Lato Bold"/>
                <a:ea typeface="Lato Bold"/>
                <a:cs typeface="Lato Bold"/>
                <a:sym typeface="Lato Bold"/>
              </a:rPr>
              <a:t>Heavy use of Air shipments, especially for lighter weights, leads to in </a:t>
            </a:r>
            <a:r>
              <a:rPr lang="en-US" sz="2700" b="1" spc="13" dirty="0" err="1">
                <a:solidFill>
                  <a:srgbClr val="FFFFFF"/>
                </a:solidFill>
                <a:latin typeface="Lato Bold"/>
                <a:ea typeface="Lato Bold"/>
                <a:cs typeface="Lato Bold"/>
                <a:sym typeface="Lato Bold"/>
              </a:rPr>
              <a:t>ated</a:t>
            </a:r>
            <a:r>
              <a:rPr lang="en-US" sz="2700" b="1" spc="13" dirty="0">
                <a:solidFill>
                  <a:srgbClr val="FFFFFF"/>
                </a:solidFill>
                <a:latin typeface="Lato Bold"/>
                <a:ea typeface="Lato Bold"/>
                <a:cs typeface="Lato Bold"/>
                <a:sym typeface="Lato Bold"/>
              </a:rPr>
              <a:t> costs—mode shifts to</a:t>
            </a:r>
          </a:p>
        </p:txBody>
      </p:sp>
      <p:sp>
        <p:nvSpPr>
          <p:cNvPr id="7" name="TextBox 7"/>
          <p:cNvSpPr txBox="1"/>
          <p:nvPr/>
        </p:nvSpPr>
        <p:spPr>
          <a:xfrm>
            <a:off x="1731588" y="4929187"/>
            <a:ext cx="4867199" cy="554355"/>
          </a:xfrm>
          <a:prstGeom prst="rect">
            <a:avLst/>
          </a:prstGeom>
        </p:spPr>
        <p:txBody>
          <a:bodyPr lIns="0" tIns="0" rIns="0" bIns="0" rtlCol="0" anchor="t">
            <a:spAutoFit/>
          </a:bodyPr>
          <a:lstStyle/>
          <a:p>
            <a:pPr algn="l">
              <a:lnSpc>
                <a:spcPts val="4649"/>
              </a:lnSpc>
            </a:pPr>
            <a:r>
              <a:rPr lang="en-US" sz="2700" b="1">
                <a:solidFill>
                  <a:srgbClr val="FFFFFF"/>
                </a:solidFill>
                <a:latin typeface="Lato Bold"/>
                <a:ea typeface="Lato Bold"/>
                <a:cs typeface="Lato Bold"/>
                <a:sym typeface="Lato Bold"/>
              </a:rPr>
              <a:t>Truck or Ocean can reduce this.</a:t>
            </a:r>
          </a:p>
        </p:txBody>
      </p:sp>
      <p:sp>
        <p:nvSpPr>
          <p:cNvPr id="8" name="TextBox 8"/>
          <p:cNvSpPr txBox="1"/>
          <p:nvPr/>
        </p:nvSpPr>
        <p:spPr>
          <a:xfrm>
            <a:off x="1333919" y="5510212"/>
            <a:ext cx="15655947" cy="3244478"/>
          </a:xfrm>
          <a:prstGeom prst="rect">
            <a:avLst/>
          </a:prstGeom>
        </p:spPr>
        <p:txBody>
          <a:bodyPr lIns="0" tIns="0" rIns="0" bIns="0" rtlCol="0" anchor="t">
            <a:spAutoFit/>
          </a:bodyPr>
          <a:lstStyle/>
          <a:p>
            <a:pPr algn="l">
              <a:lnSpc>
                <a:spcPts val="4301"/>
              </a:lnSpc>
            </a:pPr>
            <a:r>
              <a:rPr lang="en-US" sz="2700" b="1" dirty="0">
                <a:solidFill>
                  <a:srgbClr val="FF0000"/>
                </a:solidFill>
                <a:latin typeface="Lato Bold"/>
                <a:ea typeface="Lato Bold"/>
                <a:cs typeface="Lato Bold"/>
                <a:sym typeface="Lato Bold"/>
              </a:rPr>
              <a:t>Key Actions:</a:t>
            </a:r>
          </a:p>
          <a:p>
            <a:pPr algn="l">
              <a:lnSpc>
                <a:spcPts val="4301"/>
              </a:lnSpc>
            </a:pPr>
            <a:r>
              <a:rPr lang="en-US" sz="2700" b="1" dirty="0">
                <a:solidFill>
                  <a:srgbClr val="939DA8"/>
                </a:solidFill>
                <a:latin typeface="Lato Bold"/>
                <a:ea typeface="Lato Bold"/>
                <a:cs typeface="Lato Bold"/>
                <a:sym typeface="Lato Bold"/>
              </a:rPr>
              <a:t>•</a:t>
            </a:r>
            <a:r>
              <a:rPr lang="en-US" sz="2700" b="1" dirty="0">
                <a:solidFill>
                  <a:srgbClr val="FFFFFF"/>
                </a:solidFill>
                <a:latin typeface="Lato Bold"/>
                <a:ea typeface="Lato Bold"/>
                <a:cs typeface="Lato Bold"/>
                <a:sym typeface="Lato Bold"/>
              </a:rPr>
              <a:t>Optimize contracts with high-spend suppliers </a:t>
            </a:r>
          </a:p>
          <a:p>
            <a:pPr algn="l">
              <a:lnSpc>
                <a:spcPts val="4301"/>
              </a:lnSpc>
            </a:pPr>
            <a:r>
              <a:rPr lang="en-US" sz="2700" b="1" dirty="0">
                <a:solidFill>
                  <a:srgbClr val="939DA8"/>
                </a:solidFill>
                <a:latin typeface="Lato Bold"/>
                <a:ea typeface="Lato Bold"/>
                <a:cs typeface="Lato Bold"/>
                <a:sym typeface="Lato Bold"/>
              </a:rPr>
              <a:t>•</a:t>
            </a:r>
            <a:r>
              <a:rPr lang="en-US" sz="2700" b="1" dirty="0">
                <a:solidFill>
                  <a:srgbClr val="FFFFFF"/>
                </a:solidFill>
                <a:latin typeface="Lato Bold"/>
                <a:ea typeface="Lato Bold"/>
                <a:cs typeface="Lato Bold"/>
                <a:sym typeface="Lato Bold"/>
              </a:rPr>
              <a:t>Improve delivery performance and inventory planning</a:t>
            </a:r>
          </a:p>
          <a:p>
            <a:pPr algn="l">
              <a:lnSpc>
                <a:spcPts val="4301"/>
              </a:lnSpc>
            </a:pPr>
            <a:r>
              <a:rPr lang="en-US" sz="2700" b="1" dirty="0">
                <a:solidFill>
                  <a:srgbClr val="939DA8"/>
                </a:solidFill>
                <a:latin typeface="Lato Bold"/>
                <a:ea typeface="Lato Bold"/>
                <a:cs typeface="Lato Bold"/>
                <a:sym typeface="Lato Bold"/>
              </a:rPr>
              <a:t>•</a:t>
            </a:r>
            <a:r>
              <a:rPr lang="en-US" sz="2700" b="1" dirty="0">
                <a:solidFill>
                  <a:srgbClr val="FFFFFF"/>
                </a:solidFill>
                <a:latin typeface="Lato Bold"/>
                <a:ea typeface="Lato Bold"/>
                <a:cs typeface="Lato Bold"/>
                <a:sym typeface="Lato Bold"/>
              </a:rPr>
              <a:t>Control freight costs through consolidation and better shipment modes </a:t>
            </a:r>
          </a:p>
          <a:p>
            <a:pPr algn="l">
              <a:lnSpc>
                <a:spcPts val="4301"/>
              </a:lnSpc>
            </a:pPr>
            <a:r>
              <a:rPr lang="en-US" sz="2700" b="1" dirty="0">
                <a:solidFill>
                  <a:srgbClr val="939DA8"/>
                </a:solidFill>
                <a:latin typeface="Lato Bold"/>
                <a:ea typeface="Lato Bold"/>
                <a:cs typeface="Lato Bold"/>
                <a:sym typeface="Lato Bold"/>
              </a:rPr>
              <a:t>•</a:t>
            </a:r>
            <a:r>
              <a:rPr lang="en-US" sz="2700" b="1" dirty="0">
                <a:solidFill>
                  <a:srgbClr val="FFFFFF"/>
                </a:solidFill>
                <a:latin typeface="Lato Bold"/>
                <a:ea typeface="Lato Bold"/>
                <a:cs typeface="Lato Bold"/>
                <a:sym typeface="Lato Bold"/>
              </a:rPr>
              <a:t>Leverage data to guide strategic procurement decisions These steps will lead to lower costs, stronger vendor performance, and greater operational </a:t>
            </a:r>
            <a:r>
              <a:rPr lang="en-US" sz="2700" b="1" dirty="0" err="1">
                <a:solidFill>
                  <a:srgbClr val="FFFFFF"/>
                </a:solidFill>
                <a:latin typeface="Lato Bold"/>
                <a:ea typeface="Lato Bold"/>
                <a:cs typeface="Lato Bold"/>
                <a:sym typeface="Lato Bold"/>
              </a:rPr>
              <a:t>efciency</a:t>
            </a:r>
            <a:r>
              <a:rPr lang="en-US" sz="2700" b="1" dirty="0">
                <a:solidFill>
                  <a:srgbClr val="FFFFFF"/>
                </a:solidFill>
                <a:latin typeface="Lato Bold"/>
                <a:ea typeface="Lato Bold"/>
                <a:cs typeface="Lato Bold"/>
                <a:sym typeface="Lato Bold"/>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10"/>
            <a:ext cx="18288000" cy="10286990"/>
          </a:xfrm>
          <a:custGeom>
            <a:avLst/>
            <a:gdLst/>
            <a:ahLst/>
            <a:cxnLst/>
            <a:rect l="l" t="t" r="r" b="b"/>
            <a:pathLst>
              <a:path w="18288000" h="10286990">
                <a:moveTo>
                  <a:pt x="0" y="0"/>
                </a:moveTo>
                <a:lnTo>
                  <a:pt x="18288000" y="0"/>
                </a:lnTo>
                <a:lnTo>
                  <a:pt x="18288000" y="10286990"/>
                </a:lnTo>
                <a:lnTo>
                  <a:pt x="0" y="10286990"/>
                </a:lnTo>
                <a:lnTo>
                  <a:pt x="0" y="0"/>
                </a:lnTo>
                <a:close/>
              </a:path>
            </a:pathLst>
          </a:custGeom>
          <a:blipFill>
            <a:blip r:embed="rId4"/>
            <a:stretch>
              <a:fillRect l="-52" r="-52"/>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99C818D-F934-4BF4-9C95-730FE0D9D168}">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TotalTime>
  <Words>2301</Words>
  <Application>Microsoft Office PowerPoint</Application>
  <PresentationFormat>Custom</PresentationFormat>
  <Paragraphs>78</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Lato</vt:lpstr>
      <vt:lpstr>Inter Bold</vt:lpstr>
      <vt:lpstr>Lato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FedEx LOGISTICS EDA.pdf</dc:title>
  <cp:lastModifiedBy>NIKET TALIKOTI</cp:lastModifiedBy>
  <cp:revision>3</cp:revision>
  <dcterms:created xsi:type="dcterms:W3CDTF">2006-08-16T00:00:00Z</dcterms:created>
  <dcterms:modified xsi:type="dcterms:W3CDTF">2025-04-15T11:34:44Z</dcterms:modified>
  <dc:identifier>DAGks9uB3-I</dc:identifier>
</cp:coreProperties>
</file>